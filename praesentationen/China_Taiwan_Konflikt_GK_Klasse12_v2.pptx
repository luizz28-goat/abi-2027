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Thema: Friedens- und Sicherheitspolitik im 21. Jahrhundert. Leitfrage: Warum ist der Konflikt bisher ungelöst – und welche Wege zu Frieden und Stabilität gibt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China/VR China: Peking betrachtet Taiwan als Teil Chinas und strebt die „Wiedervereinigung“ an. Eine Unabhängigkeit Taiwans wird abgelehnt; China schließt Zwang als letzte Möglichkeit nicht aus.
Taiwan/Republik China: Taiwan wird seit 1949 von einer eigenen Regierung kontrolliert. Demokratische, selbstverwaltete Gesellschaft; will den Status quo erhalten; eine Mehrheit lehnt eine Vereinigung unter dem chinesischen System ab.
International: USA, Japan und Europa wollen vor allem Frieden und Stabilität. Viele Staaten erkennen diplomatisch die VR China an, unterhalten aber intensive, meist inoffizielle Beziehungen zu Taiwan.
Streitfrage: Wer bestimmt über Taiwans politische Zukunft – Peking, Taipeh bzw. die Bevölkerung Taiwans oder eine ausgehandelte Lösung beider Seiten?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1895: China verliert Taiwan an Japan.
1945: Japan verliert Taiwan nach dem Zweiten Weltkrieg; die Republik China übernimmt die Verwaltung.
1949: Kommunisten gewinnen den Bürgerkrieg → Gründung der VR China. Die Regierung der Republik China zieht sich nach Taiwan zurück.
1950er: USA schützen Taiwan; die Teilung verfestigt sich.
1971: UN-Resolution 2758: Die VR China erhält den China-Sitz in der UN; Taiwan verliert seine Vertretung.
1987–heute: Taiwan demokratisiert sich. Eine eigenständige taiwanische Identität gewinnt an Bedeutung.
Quelle: UN Treaty Collection / Resolution 2758; Taiwan Presidential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Taiwan heute: eigene demokratische Regierung und Wahlen; eigene Streitkräfte, Währung und Verwaltung; rund 23,2 Mio. Einwohner (Aug. 2026); Präsident Lai Ching-te seit Mai 2024.
China heute: kontrolliert das Festland; beansprucht Taiwan; militärischer und wirtschaftlicher Druck; Anti-Secession Law (2005) erlaubt unter bestimmten Bedingungen „nicht-friedliche Mittel“.
Warum ist der Status quo kompliziert? Taiwan ist praktisch selbstverwaltet, aber international nur von wenigen Staaten diplomatisch anerkannt. Deutschland und die EU erkennen in ihrer Ein-China-Politik die VR China als staatlichen Ansprechpartner an, wollen aber keine gewaltsame oder einseitige Veränderung des Status quo.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National/territorial: Souveränität und territoriale Zugehörigkeit Taiwans.
Ideologisch/politisch: autoritäres Regierungssystem Chinas ↔ demokratisches System Taiwans.
Militärisch: Abschreckung, Waffenlieferungen, Manöver, Blockade- und Invasionsrisiko.
Wirtschaftlich: Handel, Lieferketten und Halbleiter machen Taiwan global relevant.
International: USA, Japan, EU und andere Staaten sind sicherheits- und wirtschaftspolitisch betroffen.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Historisch: Chinesischer Bürgerkrieg; Teilung seit 1949.
Souveränität: China beansprucht Taiwan; Taiwan wird von einer eigenen Regierung kontrolliert.
Identität: In Taiwan hat sich eine eigenständige politische und gesellschaftliche Identität entwickelt.
Sicherheit: China sieht Taiwan als strategischen Schlüssel und will ausländischen Einfluss verhindern; Taiwan fürchtet Zwang oder Angriff.
Großmachtkonflikt: USA und China konkurrieren um Einfluss im Indo-Pazifik.
Wirtschaft: Taiwans Schlüsselrolle bei Halbleitern (TSMC) erhöht die globale Bedeutung des Konflikts.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 China – Interessen: „Wiedervereinigung“, territoriale Integrität, keine Unabhängigkeit Taiwans. Legitimation: beruft sich auf staatliche Souveränität, territoriale Integrität und das Ein-China-Prinzip; die Kommunistische Partei dominiert das politische System; beansprucht, für „China“ einschließlich Taiwan zu sprechen.
Taiwan – Interessen: Sicherheit, demokratische Selbstbestimmung, Erhalt des Status quo. Legitimation: Regierung durch Wahlen legitimiert; demokratische Institutionen und Gewaltenteilung; Bevölkerung lebt seit Jahrzehnten unter eigener Regierung.
USA – Interessen: Stabilität, Eindämmung chinesischer Macht, Unterstützung von Taiwans Selbstverteidigung. Rolle: Taiwan Relations Act; keine formellen diplomatischen Beziehungen.
EU/Deutschland – Interessen: Frieden, Status quo, offene Handelswege, regelbasierte Ordnung. Rolle: diplomatische Ein-China-Politik; intensive wirtschaftliche Beziehungen zu Taiwan.
Internationale Ebene: UN-Resolution 2758 von 1971 regelte die Vertretung Chinas in der UN. Deutschland/EU erkennen die VR China als souveränen Staat an – das bedeutet nicht, dass sie eine gewaltsame Änderung des Status quo akzeptieren.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Gemeinsamkeiten: Beide Seiten wollen wirtschaftliche Stabilität und profitieren von Frieden und Handel. Ein Krieg hätte enorme menschliche und wirtschaftliche Kosten. Beide wollen ihre Sicherheitsinteressen schützen. Auch USA/EU wollen vor allem Eskalation vermeiden.
Unterschiede: China – Einheit und territoriale Souveränität sind nicht verhandelbar; China akzeptiert keine taiwanische Unabhängigkeit. Taiwan – politische Zukunft soll nicht von Peking bestimmt werden; Taiwan akzeptiert keine Eingliederung unter Pekings System. USA/EU wollen den Status quo erhalten, ohne Taiwan formell als unabhängigen Staat anzuerkennen.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Militärisch: Manöver, Luft- und Seepatrouillen, Abschreckung, Waffenlieferungen.
„Grauzone“: Küstenwache, Druck durch Schiffe/Flugzeuge, Desinformation und Cyberaktivitäten.
Wirtschaftlich: Handelsbeschränkungen, wirtschaftlicher Druck, Lieferketten- und Technologiepolitik.
Diplomatisch: Ein-China-Politik, internationale Isolation Taiwans, politische Kontakte.
Unterstützung: USA – Waffen und sicherheitspolitische Unterstützung; EU/Deutschland – politische und wirtschaftliche Beziehungen.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Taiwan: steigende Verteidigungsausgaben; dauerhafte Unsicherheit; wirtschaftliche Risiken; Belastung durch militärischen und politischen Druck.
Für China: hohe militärische Kosten; Gefahr von Sanktionen und wirtschaftlichen Schäden; internationale Gegenreaktionen; Risiko eines schwer kontrollierbaren Krieges.
Für die Welt: Gefahr für Schifffahrt und Welthandel; mögliche globale Chip-Krise; stärkere Konfrontation USA–China; Folgen für Deutschland/EU durch Handel und Lieferketten.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Status quo stabilisieren: keine einseitige Unabhängigkeit und keine gewaltsame Eingliederung; militärische Kommunikationskanäle ausbauen.
B. Verhandlungen: direkter Dialog zwischen Peking und Taipeh über praktische Fragen und langfristig über den politischen Status.
C. Vertrauensbildung: Hotlines, Vorankündigungen von Manövern, Regeln für Begegnungen von Schiffen/Flugzeugen.
D. Internationale Diplomatie: USA, EU, Japan und andere Staaten setzen auf gemeinsame Deeskalationssignale.
E. Langfristige politische Lösung: nur durch eine Lösung, die von den Betroffenen akzeptiert wird; keine Seite sollte durch Gewalt zu einer Lösung gezwungen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Unvereinbare Grundpositionen: China fordert Einheit; Taiwan lehnt eine Eingliederung unter Pekings Bedingungen ab.
Keine gemeinsame Vorstellung darüber, was „Ein China“ politisch bedeutet.
Misstrauen durch Militärmanöver, Waffenlieferungen und politische Signale.
Innenpolitischer Druck: Führungen können gegenüber der eigenen Bevölkerung nur begrenzt Kompromisse eingehen.
Großmachtkonkurrenz USA–China macht den Konflikt zu einem Teil der globalen Machtpolitik.
Ein formeller Statuswechsel birgt hohe Eskalationsrisiken – deshalb versuchen viele Akteure, den Status quo zu erhalten.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diplomatische Plattform; Konfliktprävention und Völkerrecht; aber: China hat als ständiges Mitglied des Sicherheitsrats ein Vetorecht → UN-Sanktionen gegen China sind politisch schwer durchsetzbar.
USA/Japan: militärische Abschreckung; Unterstützung Taiwans bei der Selbstverteidigung; zugleich Dialog mit China und Vermeidung direkter Konfrontation.
EU/Deutschland: Ein-China-Politik; klare Ablehnung von Gewalt oder Zwang; wirtschaftliche Beziehungen zu Taiwan; Diplomatie, Deeskalation und Verringerung kritischer Abhängigkeiten.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ein erhöhtes Risiko: China baut militärische Fähigkeiten aus. Militärische Aktivitäten rund um Taiwan sind häufiger und größer. Taiwan modernisiert seine Verteidigung. USA und China stehen strategisch stärker in Konkurrenz.
Gegen einen unmittelbar bevorstehenden Krieg: Eine Invasion wäre militärisch extrem schwierig und wirtschaftlich riskant. US-Beamte bewerteten im Oktober 2026 eine Invasion vor 2028 als eher unwahrscheinlich (Quelle: Reuters – vor dem Vortrag nochmal prüfen!). Gleichzeitig bleibt die Fähigkeit zur Gewaltandrohung ein zentrales Druckmittel Chinas.
→ 2027 ist daher kein sicherer „Invasionstermin“, sondern ein häufig genannter militärischer Bereitschaftshorizont.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Bewertung: Am realistischsten ist kurzfristig nicht die endgültige Lösung der Souveränitätsfrage, sondern die Stabilisierung des Status quo durch Dialog, Abschreckung und vertrauensbildende Maßnahmen.
1. Priorität: Keine einseitige Änderung des Status quo durch Gewalt oder Zwang.
2. Priorität: Kommunikationskanäle und direkte Gespräche ausbauen, um Fehlkalkulationen zu vermeiden.
3. Priorität: Internationale Staaten sollten Taiwan Selbstverteidigung ermöglichen und gleichzeitig Eskalation vermeiden.
Kernaussage: Der Konflikt ist nicht einfach „China gegen Taiwan“: Er verbindet Bürgerkriegsgeschichte, Souveränität, Demokratie, Großmachtkonkurrenz, Wirtschaft und internationale Sicherheit.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HAL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200" b="1" dirty="0">
                <a:solidFill>
                  <a:srgbClr val="14213D"/>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UNK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200" b="1" dirty="0">
                <a:solidFill>
                  <a:srgbClr val="FFFFFF"/>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C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jp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crop/titel.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949440" cy="6858000"/>
          </a:xfrm>
          <a:prstGeom prst="rect">
            <a:avLst/>
          </a:prstGeom>
          <a:solidFill>
            <a:srgbClr val="14213D">
              <a:alpha val="88000"/>
            </a:srgbClr>
          </a:solidFill>
          <a:ln w="12700">
            <a:solidFill>
              <a:srgbClr val="14213D">
                <a:alpha val="0"/>
              </a:srgbClr>
            </a:solidFill>
            <a:prstDash val="solid"/>
          </a:ln>
        </p:spPr>
      </p:sp>
      <p:sp>
        <p:nvSpPr>
          <p:cNvPr id="4" name="Text 1"/>
          <p:cNvSpPr txBox="1"/>
          <p:nvPr/>
        </p:nvSpPr>
        <p:spPr>
          <a:xfrm>
            <a:off x="548640" y="1188720"/>
            <a:ext cx="6035040" cy="320040"/>
          </a:xfrm>
          <a:prstGeom prst="rect">
            <a:avLst/>
          </a:prstGeom>
          <a:noFill/>
          <a:ln/>
        </p:spPr>
        <p:txBody>
          <a:bodyPr wrap="square" lIns="0" tIns="0" rIns="0" bIns="0" rtlCol="0" anchor="t"/>
          <a:lstStyle/>
          <a:p>
            <a:pPr indent="0" marL="0">
              <a:buNone/>
            </a:pPr>
            <a:r>
              <a:rPr lang="en-US" sz="1300" b="1" spc="200" kern="0" dirty="0">
                <a:solidFill>
                  <a:srgbClr val="D9A21B"/>
                </a:solidFill>
                <a:latin typeface="Calibri" pitchFamily="34" charset="0"/>
                <a:ea typeface="Calibri" pitchFamily="34" charset="-122"/>
                <a:cs typeface="Calibri" pitchFamily="34" charset="-120"/>
              </a:rPr>
              <a:t>KONFLIKTANALYSE · GEMEINSCHAFTSKUNDE KS 12</a:t>
            </a:r>
            <a:endParaRPr lang="en-US" sz="1300" dirty="0"/>
          </a:p>
        </p:txBody>
      </p:sp>
      <p:sp>
        <p:nvSpPr>
          <p:cNvPr id="5" name="Text 2"/>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Der China–Taiwan-Konflikt</a:t>
            </a:r>
            <a:endParaRPr lang="en-US" sz="4600" dirty="0"/>
          </a:p>
        </p:txBody>
      </p:sp>
      <p:sp>
        <p:nvSpPr>
          <p:cNvPr id="6" name="Text 3"/>
          <p:cNvSpPr txBox="1"/>
          <p:nvPr/>
        </p:nvSpPr>
        <p:spPr>
          <a:xfrm>
            <a:off x="548640" y="3520440"/>
            <a:ext cx="5852160" cy="914400"/>
          </a:xfrm>
          <a:prstGeom prst="rect">
            <a:avLst/>
          </a:prstGeom>
          <a:noFill/>
          <a:ln/>
        </p:spPr>
        <p:txBody>
          <a:bodyPr wrap="square" lIns="0" tIns="0" rIns="0" bIns="0" rtlCol="0" anchor="t"/>
          <a:lstStyle/>
          <a:p>
            <a:pPr indent="0" marL="0">
              <a:buNone/>
            </a:pPr>
            <a:r>
              <a:rPr lang="en-US" sz="2000" i="1" dirty="0">
                <a:solidFill>
                  <a:srgbClr val="DCE2EC"/>
                </a:solidFill>
                <a:latin typeface="Calibri" pitchFamily="34" charset="0"/>
                <a:ea typeface="Calibri" pitchFamily="34" charset="-122"/>
                <a:cs typeface="Calibri" pitchFamily="34" charset="-120"/>
              </a:rPr>
              <a:t>Warum ist der Konflikt bisher ungelöst – und welche Wege zu Frieden gibt es?</a:t>
            </a:r>
            <a:endParaRPr lang="en-US" sz="2000" dirty="0"/>
          </a:p>
        </p:txBody>
      </p:sp>
      <p:sp>
        <p:nvSpPr>
          <p:cNvPr id="7" name="Text 4"/>
          <p:cNvSpPr txBox="1"/>
          <p:nvPr/>
        </p:nvSpPr>
        <p:spPr>
          <a:xfrm>
            <a:off x="548640" y="5760720"/>
            <a:ext cx="58521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Justus · Luiz · David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rop/strait.jpg">    </p:cNvPr>
          <p:cNvPicPr>
            <a:picLocks noChangeAspect="1"/>
          </p:cNvPicPr>
          <p:nvPr/>
        </p:nvPicPr>
        <p:blipFill>
          <a:blip r:embed="rId1"/>
          <a:stretch>
            <a:fillRect/>
          </a:stretch>
        </p:blipFill>
        <p:spPr>
          <a:xfrm>
            <a:off x="7619695" y="0"/>
            <a:ext cx="4572000" cy="6858000"/>
          </a:xfrm>
          <a:prstGeom prst="rect">
            <a:avLst/>
          </a:prstGeom>
        </p:spPr>
      </p:pic>
      <p:sp>
        <p:nvSpPr>
          <p:cNvPr id="3" name="Text 0"/>
          <p:cNvSpPr txBox="1"/>
          <p:nvPr/>
        </p:nvSpPr>
        <p:spPr>
          <a:xfrm>
            <a:off x="548640" y="6446520"/>
            <a:ext cx="2743200"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Karte: CIA (gemeinfrei)</a:t>
            </a:r>
            <a:endParaRPr lang="en-US" sz="900" dirty="0"/>
          </a:p>
        </p:txBody>
      </p:sp>
      <p:sp>
        <p:nvSpPr>
          <p:cNvPr id="4"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1  Worum geht es?</a:t>
            </a:r>
            <a:endParaRPr lang="en-US" sz="3200" dirty="0"/>
          </a:p>
        </p:txBody>
      </p:sp>
      <p:pic>
        <p:nvPicPr>
          <p:cNvPr id="5" name="Image 1" descr="img/flag_prc.png">    </p:cNvPr>
          <p:cNvPicPr>
            <a:picLocks noChangeAspect="1"/>
          </p:cNvPicPr>
          <p:nvPr/>
        </p:nvPicPr>
        <p:blipFill>
          <a:blip r:embed="rId2"/>
          <a:stretch>
            <a:fillRect/>
          </a:stretch>
        </p:blipFill>
        <p:spPr>
          <a:xfrm>
            <a:off x="548640" y="1536192"/>
            <a:ext cx="960120" cy="640080"/>
          </a:xfrm>
          <a:prstGeom prst="rect">
            <a:avLst/>
          </a:prstGeom>
        </p:spPr>
      </p:pic>
      <p:sp>
        <p:nvSpPr>
          <p:cNvPr id="6" name="Text 2"/>
          <p:cNvSpPr txBox="1"/>
          <p:nvPr/>
        </p:nvSpPr>
        <p:spPr>
          <a:xfrm>
            <a:off x="1783080" y="1463040"/>
            <a:ext cx="539496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VR China (Peking)</a:t>
            </a:r>
            <a:endParaRPr lang="en-US" sz="1800" dirty="0"/>
          </a:p>
        </p:txBody>
      </p:sp>
      <p:sp>
        <p:nvSpPr>
          <p:cNvPr id="7" name="Text 3"/>
          <p:cNvSpPr txBox="1"/>
          <p:nvPr/>
        </p:nvSpPr>
        <p:spPr>
          <a:xfrm>
            <a:off x="1783080" y="1847088"/>
            <a:ext cx="5394960" cy="6400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Taiwan gehört zu China – Ziel ist die „Wiedervereinigung“, notfalls mit Zwang.</a:t>
            </a:r>
            <a:endParaRPr lang="en-US" sz="1600" dirty="0"/>
          </a:p>
        </p:txBody>
      </p:sp>
      <p:pic>
        <p:nvPicPr>
          <p:cNvPr id="8" name="Image 2" descr="img/flag_roc.png">    </p:cNvPr>
          <p:cNvPicPr>
            <a:picLocks noChangeAspect="1"/>
          </p:cNvPicPr>
          <p:nvPr/>
        </p:nvPicPr>
        <p:blipFill>
          <a:blip r:embed="rId3"/>
          <a:stretch>
            <a:fillRect/>
          </a:stretch>
        </p:blipFill>
        <p:spPr>
          <a:xfrm>
            <a:off x="548640" y="2724912"/>
            <a:ext cx="960120" cy="640080"/>
          </a:xfrm>
          <a:prstGeom prst="rect">
            <a:avLst/>
          </a:prstGeom>
        </p:spPr>
      </p:pic>
      <p:sp>
        <p:nvSpPr>
          <p:cNvPr id="9" name="Text 4"/>
          <p:cNvSpPr txBox="1"/>
          <p:nvPr/>
        </p:nvSpPr>
        <p:spPr>
          <a:xfrm>
            <a:off x="1783080" y="2651760"/>
            <a:ext cx="539496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Taiwan (Taipeh)</a:t>
            </a:r>
            <a:endParaRPr lang="en-US" sz="1800" dirty="0"/>
          </a:p>
        </p:txBody>
      </p:sp>
      <p:sp>
        <p:nvSpPr>
          <p:cNvPr id="10" name="Text 5"/>
          <p:cNvSpPr txBox="1"/>
          <p:nvPr/>
        </p:nvSpPr>
        <p:spPr>
          <a:xfrm>
            <a:off x="1783080" y="3035808"/>
            <a:ext cx="5394960" cy="6400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Seit 1949 eigene Regierung, heute Demokratie – will den Status quo erhalten.</a:t>
            </a:r>
            <a:endParaRPr lang="en-US" sz="1600" dirty="0"/>
          </a:p>
        </p:txBody>
      </p:sp>
      <p:pic>
        <p:nvPicPr>
          <p:cNvPr id="11" name="Image 3" descr="img/flag_un.png">    </p:cNvPr>
          <p:cNvPicPr>
            <a:picLocks noChangeAspect="1"/>
          </p:cNvPicPr>
          <p:nvPr/>
        </p:nvPicPr>
        <p:blipFill>
          <a:blip r:embed="rId4"/>
          <a:stretch>
            <a:fillRect/>
          </a:stretch>
        </p:blipFill>
        <p:spPr>
          <a:xfrm>
            <a:off x="548640" y="3913632"/>
            <a:ext cx="960120" cy="640080"/>
          </a:xfrm>
          <a:prstGeom prst="rect">
            <a:avLst/>
          </a:prstGeom>
        </p:spPr>
      </p:pic>
      <p:sp>
        <p:nvSpPr>
          <p:cNvPr id="12" name="Text 6"/>
          <p:cNvSpPr txBox="1"/>
          <p:nvPr/>
        </p:nvSpPr>
        <p:spPr>
          <a:xfrm>
            <a:off x="1783080" y="3840480"/>
            <a:ext cx="539496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Weltgemeinschaft</a:t>
            </a:r>
            <a:endParaRPr lang="en-US" sz="1800" dirty="0"/>
          </a:p>
        </p:txBody>
      </p:sp>
      <p:sp>
        <p:nvSpPr>
          <p:cNvPr id="13" name="Text 7"/>
          <p:cNvSpPr txBox="1"/>
          <p:nvPr/>
        </p:nvSpPr>
        <p:spPr>
          <a:xfrm>
            <a:off x="1783080" y="4224528"/>
            <a:ext cx="5394960" cy="6400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USA, Japan, EU: vor allem Frieden und Stabilität in der Region.</a:t>
            </a:r>
            <a:endParaRPr lang="en-US" sz="1600" dirty="0"/>
          </a:p>
        </p:txBody>
      </p:sp>
      <p:sp>
        <p:nvSpPr>
          <p:cNvPr id="14" name="Shape 8"/>
          <p:cNvSpPr/>
          <p:nvPr/>
        </p:nvSpPr>
        <p:spPr>
          <a:xfrm>
            <a:off x="548640" y="5166360"/>
            <a:ext cx="6492240" cy="1051560"/>
          </a:xfrm>
          <a:prstGeom prst="roundRect">
            <a:avLst>
              <a:gd name="adj" fmla="val 10435"/>
            </a:avLst>
          </a:prstGeom>
          <a:solidFill>
            <a:srgbClr val="14213D"/>
          </a:solidFill>
          <a:ln w="12700">
            <a:solidFill>
              <a:srgbClr val="14213D"/>
            </a:solidFill>
            <a:prstDash val="solid"/>
          </a:ln>
        </p:spPr>
      </p:sp>
      <p:sp>
        <p:nvSpPr>
          <p:cNvPr id="15" name="Text 9"/>
          <p:cNvSpPr txBox="1"/>
          <p:nvPr/>
        </p:nvSpPr>
        <p:spPr>
          <a:xfrm>
            <a:off x="822960" y="5166360"/>
            <a:ext cx="6035040" cy="1051560"/>
          </a:xfrm>
          <a:prstGeom prst="rect">
            <a:avLst/>
          </a:prstGeom>
          <a:noFill/>
          <a:ln/>
        </p:spPr>
        <p:txBody>
          <a:bodyPr wrap="square" lIns="0" tIns="0" rIns="0" bIns="0" rtlCol="0" anchor="ctr"/>
          <a:lstStyle/>
          <a:p>
            <a:pPr indent="0" marL="0">
              <a:buNone/>
            </a:pPr>
            <a:r>
              <a:rPr lang="en-US" sz="2000" b="1" dirty="0">
                <a:solidFill>
                  <a:srgbClr val="D9A21B"/>
                </a:solidFill>
                <a:latin typeface="Calibri" pitchFamily="34" charset="0"/>
                <a:ea typeface="Calibri" pitchFamily="34" charset="-122"/>
                <a:cs typeface="Calibri" pitchFamily="34" charset="-120"/>
              </a:rPr>
              <a:t>Kernfrage: </a:t>
            </a:r>
            <a:pPr indent="0" marL="0">
              <a:buNone/>
            </a:pPr>
            <a:r>
              <a:rPr lang="en-US" sz="2000" dirty="0">
                <a:solidFill>
                  <a:srgbClr val="FFFFFF"/>
                </a:solidFill>
                <a:latin typeface="Calibri" pitchFamily="34" charset="0"/>
                <a:ea typeface="Calibri" pitchFamily="34" charset="-122"/>
                <a:cs typeface="Calibri" pitchFamily="34" charset="-120"/>
              </a:rPr>
              <a:t>Wer bestimmt über Taiwans Zukunft?</a:t>
            </a:r>
            <a:endParaRPr lang="en-US" sz="2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2  Wie entstand der Konflikt?</a:t>
            </a:r>
            <a:endParaRPr lang="en-US" sz="3200" dirty="0"/>
          </a:p>
        </p:txBody>
      </p:sp>
      <p:pic>
        <p:nvPicPr>
          <p:cNvPr id="3" name="Image 0" descr="crop/mao.jpg">    </p:cNvPr>
          <p:cNvPicPr>
            <a:picLocks noChangeAspect="1"/>
          </p:cNvPicPr>
          <p:nvPr/>
        </p:nvPicPr>
        <p:blipFill>
          <a:blip r:embed="rId1"/>
          <a:stretch>
            <a:fillRect/>
          </a:stretch>
        </p:blipFill>
        <p:spPr>
          <a:xfrm>
            <a:off x="548640" y="1417320"/>
            <a:ext cx="2743200" cy="2011680"/>
          </a:xfrm>
          <a:prstGeom prst="rect">
            <a:avLst/>
          </a:prstGeom>
        </p:spPr>
      </p:pic>
      <p:sp>
        <p:nvSpPr>
          <p:cNvPr id="4" name="Text 1"/>
          <p:cNvSpPr txBox="1"/>
          <p:nvPr/>
        </p:nvSpPr>
        <p:spPr>
          <a:xfrm>
            <a:off x="548640" y="3474720"/>
            <a:ext cx="2743200"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Mao ruft am 1.10.1949 die VR China aus (gemeinfrei)</a:t>
            </a:r>
            <a:endParaRPr lang="en-US" sz="900" dirty="0"/>
          </a:p>
        </p:txBody>
      </p:sp>
      <p:pic>
        <p:nvPicPr>
          <p:cNvPr id="5" name="Image 1" descr="crop/chiang.jpg">    </p:cNvPr>
          <p:cNvPicPr>
            <a:picLocks noChangeAspect="1"/>
          </p:cNvPicPr>
          <p:nvPr/>
        </p:nvPicPr>
        <p:blipFill>
          <a:blip r:embed="rId2"/>
          <a:stretch>
            <a:fillRect/>
          </a:stretch>
        </p:blipFill>
        <p:spPr>
          <a:xfrm>
            <a:off x="3566160" y="1417320"/>
            <a:ext cx="2743200" cy="2011680"/>
          </a:xfrm>
          <a:prstGeom prst="rect">
            <a:avLst/>
          </a:prstGeom>
        </p:spPr>
      </p:pic>
      <p:sp>
        <p:nvSpPr>
          <p:cNvPr id="6" name="Text 2"/>
          <p:cNvSpPr txBox="1"/>
          <p:nvPr/>
        </p:nvSpPr>
        <p:spPr>
          <a:xfrm>
            <a:off x="3566160" y="3474720"/>
            <a:ext cx="2743200"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Chiang Kai-shek, Führer der Republik China (gemeinfrei)</a:t>
            </a:r>
            <a:endParaRPr lang="en-US" sz="900" dirty="0"/>
          </a:p>
        </p:txBody>
      </p:sp>
      <p:sp>
        <p:nvSpPr>
          <p:cNvPr id="7" name="Shape 3"/>
          <p:cNvSpPr/>
          <p:nvPr/>
        </p:nvSpPr>
        <p:spPr>
          <a:xfrm>
            <a:off x="6675120" y="1417320"/>
            <a:ext cx="4967935" cy="2011680"/>
          </a:xfrm>
          <a:prstGeom prst="roundRect">
            <a:avLst>
              <a:gd name="adj" fmla="val 5455"/>
            </a:avLst>
          </a:prstGeom>
          <a:solidFill>
            <a:srgbClr val="F1F3F6"/>
          </a:solidFill>
          <a:ln w="12700">
            <a:solidFill>
              <a:srgbClr val="F1F3F6"/>
            </a:solidFill>
            <a:prstDash val="solid"/>
          </a:ln>
        </p:spPr>
      </p:sp>
      <p:sp>
        <p:nvSpPr>
          <p:cNvPr id="8" name="Text 4"/>
          <p:cNvSpPr txBox="1"/>
          <p:nvPr/>
        </p:nvSpPr>
        <p:spPr>
          <a:xfrm>
            <a:off x="6949440" y="1417320"/>
            <a:ext cx="4419295" cy="2011680"/>
          </a:xfrm>
          <a:prstGeom prst="rect">
            <a:avLst/>
          </a:prstGeom>
          <a:noFill/>
          <a:ln/>
        </p:spPr>
        <p:txBody>
          <a:bodyPr wrap="square" lIns="0" tIns="0" rIns="0" bIns="0" rtlCol="0" anchor="ctr"/>
          <a:lstStyle/>
          <a:p>
            <a:pPr indent="0" marL="0">
              <a:buNone/>
            </a:pPr>
            <a:r>
              <a:rPr lang="en-US" sz="1700" b="1" dirty="0">
                <a:solidFill>
                  <a:srgbClr val="C8102E"/>
                </a:solidFill>
                <a:latin typeface="Calibri" pitchFamily="34" charset="0"/>
                <a:ea typeface="Calibri" pitchFamily="34" charset="-122"/>
                <a:cs typeface="Calibri" pitchFamily="34" charset="-120"/>
              </a:rPr>
              <a:t>1949: </a:t>
            </a:r>
            <a:pPr indent="0" marL="0">
              <a:buNone/>
            </a:pPr>
            <a:r>
              <a:rPr lang="en-US" sz="1700" dirty="0">
                <a:solidFill>
                  <a:srgbClr val="1F2937"/>
                </a:solidFill>
                <a:latin typeface="Calibri" pitchFamily="34" charset="0"/>
                <a:ea typeface="Calibri" pitchFamily="34" charset="-122"/>
                <a:cs typeface="Calibri" pitchFamily="34" charset="-120"/>
              </a:rPr>
              <a:t>Die Kommunisten gewinnen den Bürgerkrieg. Die Regierung der Republik China flieht nach Taiwan – seitdem gibt es zwei Regierungen, die beide „China“ sein wollten.</a:t>
            </a:r>
            <a:endParaRPr lang="en-US" sz="1700" dirty="0"/>
          </a:p>
        </p:txBody>
      </p:sp>
      <p:sp>
        <p:nvSpPr>
          <p:cNvPr id="9" name="Shape 5"/>
          <p:cNvSpPr/>
          <p:nvPr/>
        </p:nvSpPr>
        <p:spPr>
          <a:xfrm>
            <a:off x="548640" y="4617720"/>
            <a:ext cx="11094415" cy="0"/>
          </a:xfrm>
          <a:prstGeom prst="line">
            <a:avLst/>
          </a:prstGeom>
          <a:noFill/>
          <a:ln w="25400">
            <a:solidFill>
              <a:srgbClr val="C7CDD6"/>
            </a:solidFill>
            <a:prstDash val="solid"/>
          </a:ln>
        </p:spPr>
      </p:sp>
      <p:sp>
        <p:nvSpPr>
          <p:cNvPr id="10" name="Shape 6"/>
          <p:cNvSpPr/>
          <p:nvPr/>
        </p:nvSpPr>
        <p:spPr>
          <a:xfrm>
            <a:off x="1344168" y="4498848"/>
            <a:ext cx="237744" cy="237744"/>
          </a:xfrm>
          <a:prstGeom prst="ellipse">
            <a:avLst/>
          </a:prstGeom>
          <a:solidFill>
            <a:srgbClr val="14213D"/>
          </a:solidFill>
          <a:ln w="25400">
            <a:solidFill>
              <a:srgbClr val="FFFFFF"/>
            </a:solidFill>
            <a:prstDash val="solid"/>
          </a:ln>
        </p:spPr>
      </p:sp>
      <p:sp>
        <p:nvSpPr>
          <p:cNvPr id="11" name="Text 7"/>
          <p:cNvSpPr txBox="1"/>
          <p:nvPr/>
        </p:nvSpPr>
        <p:spPr>
          <a:xfrm>
            <a:off x="548640" y="4023360"/>
            <a:ext cx="1828800" cy="365760"/>
          </a:xfrm>
          <a:prstGeom prst="rect">
            <a:avLst/>
          </a:prstGeom>
          <a:noFill/>
          <a:ln/>
        </p:spPr>
        <p:txBody>
          <a:bodyPr wrap="square" lIns="0" tIns="0" rIns="0" bIns="0" rtlCol="0" anchor="t"/>
          <a:lstStyle/>
          <a:p>
            <a:pPr algn="ctr" indent="0" marL="0">
              <a:buNone/>
            </a:pPr>
            <a:r>
              <a:rPr lang="en-US" sz="1800" b="1" dirty="0">
                <a:solidFill>
                  <a:srgbClr val="14213D"/>
                </a:solidFill>
                <a:latin typeface="Arial" pitchFamily="34" charset="0"/>
                <a:ea typeface="Arial" pitchFamily="34" charset="-122"/>
                <a:cs typeface="Arial" pitchFamily="34" charset="-120"/>
              </a:rPr>
              <a:t>1895</a:t>
            </a:r>
            <a:endParaRPr lang="en-US" sz="1800" dirty="0"/>
          </a:p>
        </p:txBody>
      </p:sp>
      <p:sp>
        <p:nvSpPr>
          <p:cNvPr id="12" name="Text 8"/>
          <p:cNvSpPr txBox="1"/>
          <p:nvPr/>
        </p:nvSpPr>
        <p:spPr>
          <a:xfrm>
            <a:off x="566928" y="4892040"/>
            <a:ext cx="1792224" cy="8229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Japan erobert Taiwan</a:t>
            </a:r>
            <a:endParaRPr lang="en-US" sz="1400" dirty="0"/>
          </a:p>
        </p:txBody>
      </p:sp>
      <p:sp>
        <p:nvSpPr>
          <p:cNvPr id="13" name="Shape 9"/>
          <p:cNvSpPr/>
          <p:nvPr/>
        </p:nvSpPr>
        <p:spPr>
          <a:xfrm>
            <a:off x="3197291" y="4498848"/>
            <a:ext cx="237744" cy="237744"/>
          </a:xfrm>
          <a:prstGeom prst="ellipse">
            <a:avLst/>
          </a:prstGeom>
          <a:solidFill>
            <a:srgbClr val="14213D"/>
          </a:solidFill>
          <a:ln w="25400">
            <a:solidFill>
              <a:srgbClr val="FFFFFF"/>
            </a:solidFill>
            <a:prstDash val="solid"/>
          </a:ln>
        </p:spPr>
      </p:sp>
      <p:sp>
        <p:nvSpPr>
          <p:cNvPr id="14" name="Text 10"/>
          <p:cNvSpPr txBox="1"/>
          <p:nvPr/>
        </p:nvSpPr>
        <p:spPr>
          <a:xfrm>
            <a:off x="2401763" y="4023360"/>
            <a:ext cx="1828800" cy="365760"/>
          </a:xfrm>
          <a:prstGeom prst="rect">
            <a:avLst/>
          </a:prstGeom>
          <a:noFill/>
          <a:ln/>
        </p:spPr>
        <p:txBody>
          <a:bodyPr wrap="square" lIns="0" tIns="0" rIns="0" bIns="0" rtlCol="0" anchor="t"/>
          <a:lstStyle/>
          <a:p>
            <a:pPr algn="ctr" indent="0" marL="0">
              <a:buNone/>
            </a:pPr>
            <a:r>
              <a:rPr lang="en-US" sz="1800" b="1" dirty="0">
                <a:solidFill>
                  <a:srgbClr val="14213D"/>
                </a:solidFill>
                <a:latin typeface="Arial" pitchFamily="34" charset="0"/>
                <a:ea typeface="Arial" pitchFamily="34" charset="-122"/>
                <a:cs typeface="Arial" pitchFamily="34" charset="-120"/>
              </a:rPr>
              <a:t>1945</a:t>
            </a:r>
            <a:endParaRPr lang="en-US" sz="1800" dirty="0"/>
          </a:p>
        </p:txBody>
      </p:sp>
      <p:sp>
        <p:nvSpPr>
          <p:cNvPr id="15" name="Text 11"/>
          <p:cNvSpPr txBox="1"/>
          <p:nvPr/>
        </p:nvSpPr>
        <p:spPr>
          <a:xfrm>
            <a:off x="2420051" y="4892040"/>
            <a:ext cx="1792224" cy="8229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Taiwan geht an die Republik China</a:t>
            </a:r>
            <a:endParaRPr lang="en-US" sz="1400" dirty="0"/>
          </a:p>
        </p:txBody>
      </p:sp>
      <p:sp>
        <p:nvSpPr>
          <p:cNvPr id="16" name="Shape 12"/>
          <p:cNvSpPr/>
          <p:nvPr/>
        </p:nvSpPr>
        <p:spPr>
          <a:xfrm>
            <a:off x="5050414" y="4498848"/>
            <a:ext cx="237744" cy="237744"/>
          </a:xfrm>
          <a:prstGeom prst="ellipse">
            <a:avLst/>
          </a:prstGeom>
          <a:solidFill>
            <a:srgbClr val="C8102E"/>
          </a:solidFill>
          <a:ln w="25400">
            <a:solidFill>
              <a:srgbClr val="FFFFFF"/>
            </a:solidFill>
            <a:prstDash val="solid"/>
          </a:ln>
        </p:spPr>
      </p:sp>
      <p:sp>
        <p:nvSpPr>
          <p:cNvPr id="17" name="Text 13"/>
          <p:cNvSpPr txBox="1"/>
          <p:nvPr/>
        </p:nvSpPr>
        <p:spPr>
          <a:xfrm>
            <a:off x="4254886" y="4023360"/>
            <a:ext cx="1828800" cy="365760"/>
          </a:xfrm>
          <a:prstGeom prst="rect">
            <a:avLst/>
          </a:prstGeom>
          <a:noFill/>
          <a:ln/>
        </p:spPr>
        <p:txBody>
          <a:bodyPr wrap="square" lIns="0" tIns="0" rIns="0" bIns="0" rtlCol="0" anchor="t"/>
          <a:lstStyle/>
          <a:p>
            <a:pPr algn="ctr" indent="0" marL="0">
              <a:buNone/>
            </a:pPr>
            <a:r>
              <a:rPr lang="en-US" sz="1800" b="1" dirty="0">
                <a:solidFill>
                  <a:srgbClr val="C8102E"/>
                </a:solidFill>
                <a:latin typeface="Arial" pitchFamily="34" charset="0"/>
                <a:ea typeface="Arial" pitchFamily="34" charset="-122"/>
                <a:cs typeface="Arial" pitchFamily="34" charset="-120"/>
              </a:rPr>
              <a:t>1949</a:t>
            </a:r>
            <a:endParaRPr lang="en-US" sz="1800" dirty="0"/>
          </a:p>
        </p:txBody>
      </p:sp>
      <p:sp>
        <p:nvSpPr>
          <p:cNvPr id="18" name="Text 14"/>
          <p:cNvSpPr txBox="1"/>
          <p:nvPr/>
        </p:nvSpPr>
        <p:spPr>
          <a:xfrm>
            <a:off x="4273174" y="4892040"/>
            <a:ext cx="1792224" cy="8229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Bürgerkrieg: Rückzug nach Taiwan</a:t>
            </a:r>
            <a:endParaRPr lang="en-US" sz="1400" dirty="0"/>
          </a:p>
        </p:txBody>
      </p:sp>
      <p:sp>
        <p:nvSpPr>
          <p:cNvPr id="19" name="Shape 15"/>
          <p:cNvSpPr/>
          <p:nvPr/>
        </p:nvSpPr>
        <p:spPr>
          <a:xfrm>
            <a:off x="6903537" y="4498848"/>
            <a:ext cx="237744" cy="237744"/>
          </a:xfrm>
          <a:prstGeom prst="ellipse">
            <a:avLst/>
          </a:prstGeom>
          <a:solidFill>
            <a:srgbClr val="14213D"/>
          </a:solidFill>
          <a:ln w="25400">
            <a:solidFill>
              <a:srgbClr val="FFFFFF"/>
            </a:solidFill>
            <a:prstDash val="solid"/>
          </a:ln>
        </p:spPr>
      </p:sp>
      <p:sp>
        <p:nvSpPr>
          <p:cNvPr id="20" name="Text 16"/>
          <p:cNvSpPr txBox="1"/>
          <p:nvPr/>
        </p:nvSpPr>
        <p:spPr>
          <a:xfrm>
            <a:off x="6108009" y="4023360"/>
            <a:ext cx="1828800" cy="365760"/>
          </a:xfrm>
          <a:prstGeom prst="rect">
            <a:avLst/>
          </a:prstGeom>
          <a:noFill/>
          <a:ln/>
        </p:spPr>
        <p:txBody>
          <a:bodyPr wrap="square" lIns="0" tIns="0" rIns="0" bIns="0" rtlCol="0" anchor="t"/>
          <a:lstStyle/>
          <a:p>
            <a:pPr algn="ctr" indent="0" marL="0">
              <a:buNone/>
            </a:pPr>
            <a:r>
              <a:rPr lang="en-US" sz="1800" b="1" dirty="0">
                <a:solidFill>
                  <a:srgbClr val="14213D"/>
                </a:solidFill>
                <a:latin typeface="Arial" pitchFamily="34" charset="0"/>
                <a:ea typeface="Arial" pitchFamily="34" charset="-122"/>
                <a:cs typeface="Arial" pitchFamily="34" charset="-120"/>
              </a:rPr>
              <a:t>1950er</a:t>
            </a:r>
            <a:endParaRPr lang="en-US" sz="1800" dirty="0"/>
          </a:p>
        </p:txBody>
      </p:sp>
      <p:sp>
        <p:nvSpPr>
          <p:cNvPr id="21" name="Text 17"/>
          <p:cNvSpPr txBox="1"/>
          <p:nvPr/>
        </p:nvSpPr>
        <p:spPr>
          <a:xfrm>
            <a:off x="6126297" y="4892040"/>
            <a:ext cx="1792224" cy="8229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USA schützen Taiwan</a:t>
            </a:r>
            <a:endParaRPr lang="en-US" sz="1400" dirty="0"/>
          </a:p>
        </p:txBody>
      </p:sp>
      <p:sp>
        <p:nvSpPr>
          <p:cNvPr id="22" name="Shape 18"/>
          <p:cNvSpPr/>
          <p:nvPr/>
        </p:nvSpPr>
        <p:spPr>
          <a:xfrm>
            <a:off x="8756660" y="4498848"/>
            <a:ext cx="237744" cy="237744"/>
          </a:xfrm>
          <a:prstGeom prst="ellipse">
            <a:avLst/>
          </a:prstGeom>
          <a:solidFill>
            <a:srgbClr val="C8102E"/>
          </a:solidFill>
          <a:ln w="25400">
            <a:solidFill>
              <a:srgbClr val="FFFFFF"/>
            </a:solidFill>
            <a:prstDash val="solid"/>
          </a:ln>
        </p:spPr>
      </p:sp>
      <p:sp>
        <p:nvSpPr>
          <p:cNvPr id="23" name="Text 19"/>
          <p:cNvSpPr txBox="1"/>
          <p:nvPr/>
        </p:nvSpPr>
        <p:spPr>
          <a:xfrm>
            <a:off x="7961132" y="4023360"/>
            <a:ext cx="1828800" cy="365760"/>
          </a:xfrm>
          <a:prstGeom prst="rect">
            <a:avLst/>
          </a:prstGeom>
          <a:noFill/>
          <a:ln/>
        </p:spPr>
        <p:txBody>
          <a:bodyPr wrap="square" lIns="0" tIns="0" rIns="0" bIns="0" rtlCol="0" anchor="t"/>
          <a:lstStyle/>
          <a:p>
            <a:pPr algn="ctr" indent="0" marL="0">
              <a:buNone/>
            </a:pPr>
            <a:r>
              <a:rPr lang="en-US" sz="1800" b="1" dirty="0">
                <a:solidFill>
                  <a:srgbClr val="C8102E"/>
                </a:solidFill>
                <a:latin typeface="Arial" pitchFamily="34" charset="0"/>
                <a:ea typeface="Arial" pitchFamily="34" charset="-122"/>
                <a:cs typeface="Arial" pitchFamily="34" charset="-120"/>
              </a:rPr>
              <a:t>1971</a:t>
            </a:r>
            <a:endParaRPr lang="en-US" sz="1800" dirty="0"/>
          </a:p>
        </p:txBody>
      </p:sp>
      <p:sp>
        <p:nvSpPr>
          <p:cNvPr id="24" name="Text 20"/>
          <p:cNvSpPr txBox="1"/>
          <p:nvPr/>
        </p:nvSpPr>
        <p:spPr>
          <a:xfrm>
            <a:off x="7979420" y="4892040"/>
            <a:ext cx="1792224" cy="8229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UN-Sitz geht an die VR China</a:t>
            </a:r>
            <a:endParaRPr lang="en-US" sz="1400" dirty="0"/>
          </a:p>
        </p:txBody>
      </p:sp>
      <p:sp>
        <p:nvSpPr>
          <p:cNvPr id="25" name="Shape 21"/>
          <p:cNvSpPr/>
          <p:nvPr/>
        </p:nvSpPr>
        <p:spPr>
          <a:xfrm>
            <a:off x="10609783" y="4498848"/>
            <a:ext cx="237744" cy="237744"/>
          </a:xfrm>
          <a:prstGeom prst="ellipse">
            <a:avLst/>
          </a:prstGeom>
          <a:solidFill>
            <a:srgbClr val="14213D"/>
          </a:solidFill>
          <a:ln w="25400">
            <a:solidFill>
              <a:srgbClr val="FFFFFF"/>
            </a:solidFill>
            <a:prstDash val="solid"/>
          </a:ln>
        </p:spPr>
      </p:sp>
      <p:sp>
        <p:nvSpPr>
          <p:cNvPr id="26" name="Text 22"/>
          <p:cNvSpPr txBox="1"/>
          <p:nvPr/>
        </p:nvSpPr>
        <p:spPr>
          <a:xfrm>
            <a:off x="9814255" y="4023360"/>
            <a:ext cx="1828800" cy="365760"/>
          </a:xfrm>
          <a:prstGeom prst="rect">
            <a:avLst/>
          </a:prstGeom>
          <a:noFill/>
          <a:ln/>
        </p:spPr>
        <p:txBody>
          <a:bodyPr wrap="square" lIns="0" tIns="0" rIns="0" bIns="0" rtlCol="0" anchor="t"/>
          <a:lstStyle/>
          <a:p>
            <a:pPr algn="ctr" indent="0" marL="0">
              <a:buNone/>
            </a:pPr>
            <a:r>
              <a:rPr lang="en-US" sz="1800" b="1" dirty="0">
                <a:solidFill>
                  <a:srgbClr val="14213D"/>
                </a:solidFill>
                <a:latin typeface="Arial" pitchFamily="34" charset="0"/>
                <a:ea typeface="Arial" pitchFamily="34" charset="-122"/>
                <a:cs typeface="Arial" pitchFamily="34" charset="-120"/>
              </a:rPr>
              <a:t>ab 1987</a:t>
            </a:r>
            <a:endParaRPr lang="en-US" sz="1800" dirty="0"/>
          </a:p>
        </p:txBody>
      </p:sp>
      <p:sp>
        <p:nvSpPr>
          <p:cNvPr id="27" name="Text 23"/>
          <p:cNvSpPr txBox="1"/>
          <p:nvPr/>
        </p:nvSpPr>
        <p:spPr>
          <a:xfrm>
            <a:off x="9832543" y="4892040"/>
            <a:ext cx="1792224" cy="822960"/>
          </a:xfrm>
          <a:prstGeom prst="rect">
            <a:avLst/>
          </a:prstGeom>
          <a:noFill/>
          <a:ln/>
        </p:spPr>
        <p:txBody>
          <a:bodyPr wrap="square" lIns="0" tIns="0" rIns="0" bIns="0" rtlCol="0" anchor="t"/>
          <a:lstStyle/>
          <a:p>
            <a:pPr algn="ctr" indent="0" marL="0">
              <a:buNone/>
            </a:pPr>
            <a:r>
              <a:rPr lang="en-US" sz="1400" dirty="0">
                <a:solidFill>
                  <a:srgbClr val="1F2937"/>
                </a:solidFill>
                <a:latin typeface="Calibri" pitchFamily="34" charset="0"/>
                <a:ea typeface="Calibri" pitchFamily="34" charset="-122"/>
                <a:cs typeface="Calibri" pitchFamily="34" charset="-120"/>
              </a:rPr>
              <a:t>Taiwan wird Demokratie</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3  Wie sieht der Status heute aus?</a:t>
            </a:r>
            <a:endParaRPr lang="en-US" sz="3200" dirty="0"/>
          </a:p>
        </p:txBody>
      </p:sp>
      <p:pic>
        <p:nvPicPr>
          <p:cNvPr id="3" name="Image 0" descr="crop/taipei101.jpg">    </p:cNvPr>
          <p:cNvPicPr>
            <a:picLocks noChangeAspect="1"/>
          </p:cNvPicPr>
          <p:nvPr/>
        </p:nvPicPr>
        <p:blipFill>
          <a:blip r:embed="rId1"/>
          <a:srcRect l="0" r="0" t="0" b="0"/>
          <a:stretch/>
        </p:blipFill>
        <p:spPr>
          <a:xfrm>
            <a:off x="548640" y="1417320"/>
            <a:ext cx="4023360" cy="4846320"/>
          </a:xfrm>
          <a:prstGeom prst="rect">
            <a:avLst/>
          </a:prstGeom>
        </p:spPr>
      </p:pic>
      <p:sp>
        <p:nvSpPr>
          <p:cNvPr id="4" name="Text 1"/>
          <p:cNvSpPr txBox="1"/>
          <p:nvPr/>
        </p:nvSpPr>
        <p:spPr>
          <a:xfrm>
            <a:off x="548640" y="6309360"/>
            <a:ext cx="4023360"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Taipeh mit Taipei 101 · Foto: AngMoKio, CC BY-SA 3.0</a:t>
            </a:r>
            <a:endParaRPr lang="en-US" sz="900" dirty="0"/>
          </a:p>
        </p:txBody>
      </p:sp>
      <p:sp>
        <p:nvSpPr>
          <p:cNvPr id="5" name="Shape 2"/>
          <p:cNvSpPr/>
          <p:nvPr/>
        </p:nvSpPr>
        <p:spPr>
          <a:xfrm>
            <a:off x="4937760" y="1417320"/>
            <a:ext cx="3215488" cy="2926080"/>
          </a:xfrm>
          <a:prstGeom prst="roundRect">
            <a:avLst>
              <a:gd name="adj" fmla="val 3750"/>
            </a:avLst>
          </a:prstGeom>
          <a:solidFill>
            <a:srgbClr val="F1F3F6"/>
          </a:solidFill>
          <a:ln w="12700">
            <a:solidFill>
              <a:srgbClr val="F1F3F6"/>
            </a:solidFill>
            <a:prstDash val="solid"/>
          </a:ln>
        </p:spPr>
      </p:sp>
      <p:pic>
        <p:nvPicPr>
          <p:cNvPr id="6" name="Image 1" descr="img/flag_roc.png">    </p:cNvPr>
          <p:cNvPicPr>
            <a:picLocks noChangeAspect="1"/>
          </p:cNvPicPr>
          <p:nvPr/>
        </p:nvPicPr>
        <p:blipFill>
          <a:blip r:embed="rId2"/>
          <a:stretch>
            <a:fillRect/>
          </a:stretch>
        </p:blipFill>
        <p:spPr>
          <a:xfrm>
            <a:off x="5212080" y="1645920"/>
            <a:ext cx="548640" cy="365760"/>
          </a:xfrm>
          <a:prstGeom prst="rect">
            <a:avLst/>
          </a:prstGeom>
        </p:spPr>
      </p:pic>
      <p:sp>
        <p:nvSpPr>
          <p:cNvPr id="7" name="Text 3"/>
          <p:cNvSpPr txBox="1"/>
          <p:nvPr/>
        </p:nvSpPr>
        <p:spPr>
          <a:xfrm>
            <a:off x="5897880" y="1627632"/>
            <a:ext cx="2026768" cy="4114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Taiwan</a:t>
            </a:r>
            <a:endParaRPr lang="en-US" sz="2000" dirty="0"/>
          </a:p>
        </p:txBody>
      </p:sp>
      <p:sp>
        <p:nvSpPr>
          <p:cNvPr id="8" name="Text 4"/>
          <p:cNvSpPr txBox="1"/>
          <p:nvPr/>
        </p:nvSpPr>
        <p:spPr>
          <a:xfrm>
            <a:off x="5212080" y="2240280"/>
            <a:ext cx="2712568" cy="201168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eigene Regierung, Wahlen, Armee, Währung</a:t>
            </a:r>
            <a:endParaRPr lang="en-US" sz="1600" dirty="0"/>
          </a:p>
          <a:p>
            <a:pPr marL="177800" indent="-1778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rund 23 Mio. Einwohner</a:t>
            </a:r>
            <a:endParaRPr lang="en-US" sz="1600" dirty="0"/>
          </a:p>
          <a:p>
            <a:pPr marL="177800" indent="-1778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Präsident Lai Ching-te (seit 2024)</a:t>
            </a:r>
            <a:endParaRPr lang="en-US" sz="1600" dirty="0"/>
          </a:p>
        </p:txBody>
      </p:sp>
      <p:sp>
        <p:nvSpPr>
          <p:cNvPr id="9" name="Shape 5"/>
          <p:cNvSpPr/>
          <p:nvPr/>
        </p:nvSpPr>
        <p:spPr>
          <a:xfrm>
            <a:off x="8427568" y="1417320"/>
            <a:ext cx="3215488" cy="2926080"/>
          </a:xfrm>
          <a:prstGeom prst="roundRect">
            <a:avLst>
              <a:gd name="adj" fmla="val 3750"/>
            </a:avLst>
          </a:prstGeom>
          <a:solidFill>
            <a:srgbClr val="F1F3F6"/>
          </a:solidFill>
          <a:ln w="12700">
            <a:solidFill>
              <a:srgbClr val="F1F3F6"/>
            </a:solidFill>
            <a:prstDash val="solid"/>
          </a:ln>
        </p:spPr>
      </p:sp>
      <p:pic>
        <p:nvPicPr>
          <p:cNvPr id="10" name="Image 2" descr="img/flag_prc.png">    </p:cNvPr>
          <p:cNvPicPr>
            <a:picLocks noChangeAspect="1"/>
          </p:cNvPicPr>
          <p:nvPr/>
        </p:nvPicPr>
        <p:blipFill>
          <a:blip r:embed="rId3"/>
          <a:stretch>
            <a:fillRect/>
          </a:stretch>
        </p:blipFill>
        <p:spPr>
          <a:xfrm>
            <a:off x="8701888" y="1645920"/>
            <a:ext cx="548640" cy="365760"/>
          </a:xfrm>
          <a:prstGeom prst="rect">
            <a:avLst/>
          </a:prstGeom>
        </p:spPr>
      </p:pic>
      <p:sp>
        <p:nvSpPr>
          <p:cNvPr id="11" name="Text 6"/>
          <p:cNvSpPr txBox="1"/>
          <p:nvPr/>
        </p:nvSpPr>
        <p:spPr>
          <a:xfrm>
            <a:off x="9387688" y="1627632"/>
            <a:ext cx="2026768" cy="4114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VR China</a:t>
            </a:r>
            <a:endParaRPr lang="en-US" sz="2000" dirty="0"/>
          </a:p>
        </p:txBody>
      </p:sp>
      <p:sp>
        <p:nvSpPr>
          <p:cNvPr id="12" name="Text 7"/>
          <p:cNvSpPr txBox="1"/>
          <p:nvPr/>
        </p:nvSpPr>
        <p:spPr>
          <a:xfrm>
            <a:off x="8701888" y="2240280"/>
            <a:ext cx="2712568" cy="201168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beansprucht Taiwan als Teil Chinas</a:t>
            </a:r>
            <a:endParaRPr lang="en-US" sz="1600" dirty="0"/>
          </a:p>
          <a:p>
            <a:pPr marL="177800" indent="-1778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militärischer und wirtschaftlicher Druck</a:t>
            </a:r>
            <a:endParaRPr lang="en-US" sz="1600" dirty="0"/>
          </a:p>
          <a:p>
            <a:pPr marL="177800" indent="-1778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Gesetz von 2005 erlaubt „nicht-friedliche Mittel“</a:t>
            </a:r>
            <a:endParaRPr lang="en-US" sz="1600" dirty="0"/>
          </a:p>
        </p:txBody>
      </p:sp>
      <p:sp>
        <p:nvSpPr>
          <p:cNvPr id="13" name="Shape 8"/>
          <p:cNvSpPr/>
          <p:nvPr/>
        </p:nvSpPr>
        <p:spPr>
          <a:xfrm>
            <a:off x="4937760" y="4617720"/>
            <a:ext cx="6705295" cy="1645920"/>
          </a:xfrm>
          <a:prstGeom prst="roundRect">
            <a:avLst>
              <a:gd name="adj" fmla="val 6667"/>
            </a:avLst>
          </a:prstGeom>
          <a:solidFill>
            <a:srgbClr val="14213D"/>
          </a:solidFill>
          <a:ln w="12700">
            <a:solidFill>
              <a:srgbClr val="14213D"/>
            </a:solidFill>
            <a:prstDash val="solid"/>
          </a:ln>
        </p:spPr>
      </p:sp>
      <p:sp>
        <p:nvSpPr>
          <p:cNvPr id="14" name="Text 9"/>
          <p:cNvSpPr txBox="1"/>
          <p:nvPr/>
        </p:nvSpPr>
        <p:spPr>
          <a:xfrm>
            <a:off x="5212080" y="4617720"/>
            <a:ext cx="6156655" cy="1645920"/>
          </a:xfrm>
          <a:prstGeom prst="rect">
            <a:avLst/>
          </a:prstGeom>
          <a:noFill/>
          <a:ln/>
        </p:spPr>
        <p:txBody>
          <a:bodyPr wrap="square" lIns="0" tIns="0" rIns="0" bIns="0" rtlCol="0" anchor="ctr"/>
          <a:lstStyle/>
          <a:p>
            <a:pPr indent="0" marL="0">
              <a:buNone/>
            </a:pPr>
            <a:r>
              <a:rPr lang="en-US" sz="1600" b="1" dirty="0">
                <a:solidFill>
                  <a:srgbClr val="D9A21B"/>
                </a:solidFill>
                <a:latin typeface="Calibri" pitchFamily="34" charset="0"/>
                <a:ea typeface="Calibri" pitchFamily="34" charset="-122"/>
                <a:cs typeface="Calibri" pitchFamily="34" charset="-120"/>
              </a:rPr>
              <a:t>Paradox „Status quo“: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Taiwan regiert sich praktisch selbst, wird aber nur von wenigen Staaten offiziell anerkannt – auch Deutschland und die EU erkennen die VR China an.</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4  Auf welchen Ebenen liegt der Konflikt?</a:t>
            </a:r>
            <a:endParaRPr lang="en-US" sz="3200" dirty="0"/>
          </a:p>
        </p:txBody>
      </p:sp>
      <p:pic>
        <p:nvPicPr>
          <p:cNvPr id="3" name="Image 0" descr="crop/region.jpg">    </p:cNvPr>
          <p:cNvPicPr>
            <a:picLocks noChangeAspect="1"/>
          </p:cNvPicPr>
          <p:nvPr/>
        </p:nvPicPr>
        <p:blipFill>
          <a:blip r:embed="rId1"/>
          <a:stretch>
            <a:fillRect/>
          </a:stretch>
        </p:blipFill>
        <p:spPr>
          <a:xfrm>
            <a:off x="6888175" y="1417320"/>
            <a:ext cx="4754880" cy="4754880"/>
          </a:xfrm>
          <a:prstGeom prst="rect">
            <a:avLst/>
          </a:prstGeom>
        </p:spPr>
      </p:pic>
      <p:sp>
        <p:nvSpPr>
          <p:cNvPr id="4" name="Text 1"/>
          <p:cNvSpPr txBox="1"/>
          <p:nvPr/>
        </p:nvSpPr>
        <p:spPr>
          <a:xfrm>
            <a:off x="6888175" y="6217920"/>
            <a:ext cx="4754880"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Karte: TUBS, CC BY-SA 3.0</a:t>
            </a:r>
            <a:endParaRPr lang="en-US" sz="900" dirty="0"/>
          </a:p>
        </p:txBody>
      </p:sp>
      <p:sp>
        <p:nvSpPr>
          <p:cNvPr id="5" name="Shape 2"/>
          <p:cNvSpPr/>
          <p:nvPr/>
        </p:nvSpPr>
        <p:spPr>
          <a:xfrm>
            <a:off x="548640" y="1463040"/>
            <a:ext cx="685800" cy="685800"/>
          </a:xfrm>
          <a:prstGeom prst="ellipse">
            <a:avLst/>
          </a:prstGeom>
          <a:solidFill>
            <a:srgbClr val="C8102E"/>
          </a:solidFill>
          <a:ln w="12700">
            <a:solidFill>
              <a:srgbClr val="C8102E"/>
            </a:solidFill>
            <a:prstDash val="solid"/>
          </a:ln>
        </p:spPr>
      </p:sp>
      <p:pic>
        <p:nvPicPr>
          <p:cNvPr id="6" name="Image 1" descr="preencoded.png">    </p:cNvPr>
          <p:cNvPicPr>
            <a:picLocks noChangeAspect="1"/>
          </p:cNvPicPr>
          <p:nvPr/>
        </p:nvPicPr>
        <p:blipFill>
          <a:blip r:embed="rId2"/>
          <a:stretch>
            <a:fillRect/>
          </a:stretch>
        </p:blipFill>
        <p:spPr>
          <a:xfrm>
            <a:off x="713232" y="1627632"/>
            <a:ext cx="356616" cy="356616"/>
          </a:xfrm>
          <a:prstGeom prst="rect">
            <a:avLst/>
          </a:prstGeom>
        </p:spPr>
      </p:pic>
      <p:sp>
        <p:nvSpPr>
          <p:cNvPr id="7" name="Text 3"/>
          <p:cNvSpPr txBox="1"/>
          <p:nvPr/>
        </p:nvSpPr>
        <p:spPr>
          <a:xfrm>
            <a:off x="1463040" y="1444752"/>
            <a:ext cx="512064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Territorial</a:t>
            </a:r>
            <a:endParaRPr lang="en-US" sz="1800" dirty="0"/>
          </a:p>
        </p:txBody>
      </p:sp>
      <p:sp>
        <p:nvSpPr>
          <p:cNvPr id="8" name="Text 4"/>
          <p:cNvSpPr txBox="1"/>
          <p:nvPr/>
        </p:nvSpPr>
        <p:spPr>
          <a:xfrm>
            <a:off x="1463040" y="1801368"/>
            <a:ext cx="5120640" cy="347472"/>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Wem gehört Taiwan?</a:t>
            </a:r>
            <a:endParaRPr lang="en-US" sz="1600" dirty="0"/>
          </a:p>
        </p:txBody>
      </p:sp>
      <p:sp>
        <p:nvSpPr>
          <p:cNvPr id="9" name="Shape 5"/>
          <p:cNvSpPr/>
          <p:nvPr/>
        </p:nvSpPr>
        <p:spPr>
          <a:xfrm>
            <a:off x="548640" y="2404872"/>
            <a:ext cx="685800" cy="685800"/>
          </a:xfrm>
          <a:prstGeom prst="ellipse">
            <a:avLst/>
          </a:prstGeom>
          <a:solidFill>
            <a:srgbClr val="14213D"/>
          </a:solidFill>
          <a:ln w="12700">
            <a:solidFill>
              <a:srgbClr val="14213D"/>
            </a:solidFill>
            <a:prstDash val="solid"/>
          </a:ln>
        </p:spPr>
      </p:sp>
      <p:pic>
        <p:nvPicPr>
          <p:cNvPr id="10" name="Image 2" descr="preencoded.png">    </p:cNvPr>
          <p:cNvPicPr>
            <a:picLocks noChangeAspect="1"/>
          </p:cNvPicPr>
          <p:nvPr/>
        </p:nvPicPr>
        <p:blipFill>
          <a:blip r:embed="rId3"/>
          <a:stretch>
            <a:fillRect/>
          </a:stretch>
        </p:blipFill>
        <p:spPr>
          <a:xfrm>
            <a:off x="713232" y="2569464"/>
            <a:ext cx="356616" cy="356616"/>
          </a:xfrm>
          <a:prstGeom prst="rect">
            <a:avLst/>
          </a:prstGeom>
        </p:spPr>
      </p:pic>
      <p:sp>
        <p:nvSpPr>
          <p:cNvPr id="11" name="Text 6"/>
          <p:cNvSpPr txBox="1"/>
          <p:nvPr/>
        </p:nvSpPr>
        <p:spPr>
          <a:xfrm>
            <a:off x="1463040" y="2386584"/>
            <a:ext cx="512064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Ideologisch</a:t>
            </a:r>
            <a:endParaRPr lang="en-US" sz="1800" dirty="0"/>
          </a:p>
        </p:txBody>
      </p:sp>
      <p:sp>
        <p:nvSpPr>
          <p:cNvPr id="12" name="Text 7"/>
          <p:cNvSpPr txBox="1"/>
          <p:nvPr/>
        </p:nvSpPr>
        <p:spPr>
          <a:xfrm>
            <a:off x="1463040" y="2743200"/>
            <a:ext cx="5120640" cy="347472"/>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Einparteienstaat ↔ Demokratie</a:t>
            </a:r>
            <a:endParaRPr lang="en-US" sz="1600" dirty="0"/>
          </a:p>
        </p:txBody>
      </p:sp>
      <p:sp>
        <p:nvSpPr>
          <p:cNvPr id="13" name="Shape 8"/>
          <p:cNvSpPr/>
          <p:nvPr/>
        </p:nvSpPr>
        <p:spPr>
          <a:xfrm>
            <a:off x="548640" y="3346704"/>
            <a:ext cx="685800" cy="685800"/>
          </a:xfrm>
          <a:prstGeom prst="ellipse">
            <a:avLst/>
          </a:prstGeom>
          <a:solidFill>
            <a:srgbClr val="14213D"/>
          </a:solidFill>
          <a:ln w="12700">
            <a:solidFill>
              <a:srgbClr val="14213D"/>
            </a:solidFill>
            <a:prstDash val="solid"/>
          </a:ln>
        </p:spPr>
      </p:sp>
      <p:pic>
        <p:nvPicPr>
          <p:cNvPr id="14" name="Image 3" descr="preencoded.png">    </p:cNvPr>
          <p:cNvPicPr>
            <a:picLocks noChangeAspect="1"/>
          </p:cNvPicPr>
          <p:nvPr/>
        </p:nvPicPr>
        <p:blipFill>
          <a:blip r:embed="rId4"/>
          <a:stretch>
            <a:fillRect/>
          </a:stretch>
        </p:blipFill>
        <p:spPr>
          <a:xfrm>
            <a:off x="713232" y="3511296"/>
            <a:ext cx="356616" cy="356616"/>
          </a:xfrm>
          <a:prstGeom prst="rect">
            <a:avLst/>
          </a:prstGeom>
        </p:spPr>
      </p:pic>
      <p:sp>
        <p:nvSpPr>
          <p:cNvPr id="15" name="Text 9"/>
          <p:cNvSpPr txBox="1"/>
          <p:nvPr/>
        </p:nvSpPr>
        <p:spPr>
          <a:xfrm>
            <a:off x="1463040" y="3328416"/>
            <a:ext cx="512064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Militärisch</a:t>
            </a:r>
            <a:endParaRPr lang="en-US" sz="1800" dirty="0"/>
          </a:p>
        </p:txBody>
      </p:sp>
      <p:sp>
        <p:nvSpPr>
          <p:cNvPr id="16" name="Text 10"/>
          <p:cNvSpPr txBox="1"/>
          <p:nvPr/>
        </p:nvSpPr>
        <p:spPr>
          <a:xfrm>
            <a:off x="1463040" y="3685032"/>
            <a:ext cx="5120640" cy="347472"/>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Manöver, Abschreckung, Invasionsrisiko</a:t>
            </a:r>
            <a:endParaRPr lang="en-US" sz="1600" dirty="0"/>
          </a:p>
        </p:txBody>
      </p:sp>
      <p:sp>
        <p:nvSpPr>
          <p:cNvPr id="17" name="Shape 11"/>
          <p:cNvSpPr/>
          <p:nvPr/>
        </p:nvSpPr>
        <p:spPr>
          <a:xfrm>
            <a:off x="548640" y="4288536"/>
            <a:ext cx="685800" cy="685800"/>
          </a:xfrm>
          <a:prstGeom prst="ellipse">
            <a:avLst/>
          </a:prstGeom>
          <a:solidFill>
            <a:srgbClr val="D9A21B"/>
          </a:solidFill>
          <a:ln w="12700">
            <a:solidFill>
              <a:srgbClr val="D9A21B"/>
            </a:solidFill>
            <a:prstDash val="solid"/>
          </a:ln>
        </p:spPr>
      </p:sp>
      <p:pic>
        <p:nvPicPr>
          <p:cNvPr id="18" name="Image 4" descr="preencoded.png">    </p:cNvPr>
          <p:cNvPicPr>
            <a:picLocks noChangeAspect="1"/>
          </p:cNvPicPr>
          <p:nvPr/>
        </p:nvPicPr>
        <p:blipFill>
          <a:blip r:embed="rId5"/>
          <a:stretch>
            <a:fillRect/>
          </a:stretch>
        </p:blipFill>
        <p:spPr>
          <a:xfrm>
            <a:off x="713232" y="4453128"/>
            <a:ext cx="356616" cy="356616"/>
          </a:xfrm>
          <a:prstGeom prst="rect">
            <a:avLst/>
          </a:prstGeom>
        </p:spPr>
      </p:pic>
      <p:sp>
        <p:nvSpPr>
          <p:cNvPr id="19" name="Text 12"/>
          <p:cNvSpPr txBox="1"/>
          <p:nvPr/>
        </p:nvSpPr>
        <p:spPr>
          <a:xfrm>
            <a:off x="1463040" y="4270248"/>
            <a:ext cx="512064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Wirtschaftlich</a:t>
            </a:r>
            <a:endParaRPr lang="en-US" sz="1800" dirty="0"/>
          </a:p>
        </p:txBody>
      </p:sp>
      <p:sp>
        <p:nvSpPr>
          <p:cNvPr id="20" name="Text 13"/>
          <p:cNvSpPr txBox="1"/>
          <p:nvPr/>
        </p:nvSpPr>
        <p:spPr>
          <a:xfrm>
            <a:off x="1463040" y="4626864"/>
            <a:ext cx="5120640" cy="347472"/>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Handel, Lieferketten, Halbleiter</a:t>
            </a:r>
            <a:endParaRPr lang="en-US" sz="1600" dirty="0"/>
          </a:p>
        </p:txBody>
      </p:sp>
      <p:sp>
        <p:nvSpPr>
          <p:cNvPr id="21" name="Shape 14"/>
          <p:cNvSpPr/>
          <p:nvPr/>
        </p:nvSpPr>
        <p:spPr>
          <a:xfrm>
            <a:off x="548640" y="5230368"/>
            <a:ext cx="685800" cy="685800"/>
          </a:xfrm>
          <a:prstGeom prst="ellipse">
            <a:avLst/>
          </a:prstGeom>
          <a:solidFill>
            <a:srgbClr val="2F6B4F"/>
          </a:solidFill>
          <a:ln w="12700">
            <a:solidFill>
              <a:srgbClr val="2F6B4F"/>
            </a:solidFill>
            <a:prstDash val="solid"/>
          </a:ln>
        </p:spPr>
      </p:sp>
      <p:pic>
        <p:nvPicPr>
          <p:cNvPr id="22" name="Image 5" descr="preencoded.png">    </p:cNvPr>
          <p:cNvPicPr>
            <a:picLocks noChangeAspect="1"/>
          </p:cNvPicPr>
          <p:nvPr/>
        </p:nvPicPr>
        <p:blipFill>
          <a:blip r:embed="rId6"/>
          <a:stretch>
            <a:fillRect/>
          </a:stretch>
        </p:blipFill>
        <p:spPr>
          <a:xfrm>
            <a:off x="713232" y="5394960"/>
            <a:ext cx="356616" cy="356616"/>
          </a:xfrm>
          <a:prstGeom prst="rect">
            <a:avLst/>
          </a:prstGeom>
        </p:spPr>
      </p:pic>
      <p:sp>
        <p:nvSpPr>
          <p:cNvPr id="23" name="Text 15"/>
          <p:cNvSpPr txBox="1"/>
          <p:nvPr/>
        </p:nvSpPr>
        <p:spPr>
          <a:xfrm>
            <a:off x="1463040" y="5212080"/>
            <a:ext cx="5120640" cy="347472"/>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International</a:t>
            </a:r>
            <a:endParaRPr lang="en-US" sz="1800" dirty="0"/>
          </a:p>
        </p:txBody>
      </p:sp>
      <p:sp>
        <p:nvSpPr>
          <p:cNvPr id="24" name="Text 16"/>
          <p:cNvSpPr txBox="1"/>
          <p:nvPr/>
        </p:nvSpPr>
        <p:spPr>
          <a:xfrm>
            <a:off x="1463040" y="5568696"/>
            <a:ext cx="5120640" cy="347472"/>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USA, Japan, EU sind mitbetroffen</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5  Was sind die Ursachen?</a:t>
            </a:r>
            <a:endParaRPr lang="en-US" sz="3200" dirty="0"/>
          </a:p>
        </p:txBody>
      </p:sp>
      <p:sp>
        <p:nvSpPr>
          <p:cNvPr id="3" name="Shape 1"/>
          <p:cNvSpPr/>
          <p:nvPr/>
        </p:nvSpPr>
        <p:spPr>
          <a:xfrm>
            <a:off x="548640" y="1417320"/>
            <a:ext cx="2377440" cy="2240280"/>
          </a:xfrm>
          <a:prstGeom prst="roundRect">
            <a:avLst>
              <a:gd name="adj" fmla="val 4898"/>
            </a:avLst>
          </a:prstGeom>
          <a:solidFill>
            <a:srgbClr val="F1F3F6"/>
          </a:solidFill>
          <a:ln w="12700">
            <a:solidFill>
              <a:srgbClr val="F1F3F6"/>
            </a:solidFill>
            <a:prstDash val="solid"/>
          </a:ln>
        </p:spPr>
      </p:sp>
      <p:sp>
        <p:nvSpPr>
          <p:cNvPr id="4" name="Shape 2"/>
          <p:cNvSpPr/>
          <p:nvPr/>
        </p:nvSpPr>
        <p:spPr>
          <a:xfrm>
            <a:off x="822960" y="1691640"/>
            <a:ext cx="640080" cy="640080"/>
          </a:xfrm>
          <a:prstGeom prst="ellipse">
            <a:avLst/>
          </a:prstGeom>
          <a:solidFill>
            <a:srgbClr val="C8102E"/>
          </a:solidFill>
          <a:ln w="12700">
            <a:solidFill>
              <a:srgbClr val="C8102E"/>
            </a:solidFill>
            <a:prstDash val="solid"/>
          </a:ln>
        </p:spPr>
      </p:sp>
      <p:pic>
        <p:nvPicPr>
          <p:cNvPr id="5" name="Image 0"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6" name="Text 3"/>
          <p:cNvSpPr txBox="1"/>
          <p:nvPr/>
        </p:nvSpPr>
        <p:spPr>
          <a:xfrm>
            <a:off x="822960" y="2468880"/>
            <a:ext cx="1920240"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Geschichte</a:t>
            </a:r>
            <a:endParaRPr lang="en-US" sz="1800" dirty="0"/>
          </a:p>
        </p:txBody>
      </p:sp>
      <p:sp>
        <p:nvSpPr>
          <p:cNvPr id="7" name="Text 4"/>
          <p:cNvSpPr txBox="1"/>
          <p:nvPr/>
        </p:nvSpPr>
        <p:spPr>
          <a:xfrm>
            <a:off x="822960" y="2834640"/>
            <a:ext cx="192024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Bürgerkrieg und Teilung seit 1949</a:t>
            </a:r>
            <a:endParaRPr lang="en-US" sz="1500" dirty="0"/>
          </a:p>
        </p:txBody>
      </p:sp>
      <p:sp>
        <p:nvSpPr>
          <p:cNvPr id="8" name="Shape 5"/>
          <p:cNvSpPr/>
          <p:nvPr/>
        </p:nvSpPr>
        <p:spPr>
          <a:xfrm>
            <a:off x="3200400" y="1417320"/>
            <a:ext cx="2377440" cy="2240280"/>
          </a:xfrm>
          <a:prstGeom prst="roundRect">
            <a:avLst>
              <a:gd name="adj" fmla="val 4898"/>
            </a:avLst>
          </a:prstGeom>
          <a:solidFill>
            <a:srgbClr val="F1F3F6"/>
          </a:solidFill>
          <a:ln w="12700">
            <a:solidFill>
              <a:srgbClr val="F1F3F6"/>
            </a:solidFill>
            <a:prstDash val="solid"/>
          </a:ln>
        </p:spPr>
      </p:sp>
      <p:sp>
        <p:nvSpPr>
          <p:cNvPr id="9" name="Shape 6"/>
          <p:cNvSpPr/>
          <p:nvPr/>
        </p:nvSpPr>
        <p:spPr>
          <a:xfrm>
            <a:off x="3474720" y="1691640"/>
            <a:ext cx="640080" cy="640080"/>
          </a:xfrm>
          <a:prstGeom prst="ellipse">
            <a:avLst/>
          </a:prstGeom>
          <a:solidFill>
            <a:srgbClr val="14213D"/>
          </a:solidFill>
          <a:ln w="12700">
            <a:solidFill>
              <a:srgbClr val="14213D"/>
            </a:solidFill>
            <a:prstDash val="solid"/>
          </a:ln>
        </p:spPr>
      </p:sp>
      <p:pic>
        <p:nvPicPr>
          <p:cNvPr id="10" name="Image 1" descr="preencoded.png">    </p:cNvPr>
          <p:cNvPicPr>
            <a:picLocks noChangeAspect="1"/>
          </p:cNvPicPr>
          <p:nvPr/>
        </p:nvPicPr>
        <p:blipFill>
          <a:blip r:embed="rId2"/>
          <a:stretch>
            <a:fillRect/>
          </a:stretch>
        </p:blipFill>
        <p:spPr>
          <a:xfrm>
            <a:off x="3628339" y="1845259"/>
            <a:ext cx="332842" cy="332842"/>
          </a:xfrm>
          <a:prstGeom prst="rect">
            <a:avLst/>
          </a:prstGeom>
        </p:spPr>
      </p:pic>
      <p:sp>
        <p:nvSpPr>
          <p:cNvPr id="11" name="Text 7"/>
          <p:cNvSpPr txBox="1"/>
          <p:nvPr/>
        </p:nvSpPr>
        <p:spPr>
          <a:xfrm>
            <a:off x="3474720" y="2468880"/>
            <a:ext cx="1920240"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Souveränität</a:t>
            </a:r>
            <a:endParaRPr lang="en-US" sz="1800" dirty="0"/>
          </a:p>
        </p:txBody>
      </p:sp>
      <p:sp>
        <p:nvSpPr>
          <p:cNvPr id="12" name="Text 8"/>
          <p:cNvSpPr txBox="1"/>
          <p:nvPr/>
        </p:nvSpPr>
        <p:spPr>
          <a:xfrm>
            <a:off x="3474720" y="2834640"/>
            <a:ext cx="192024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Zwei Regierungen, ein Anspruch</a:t>
            </a:r>
            <a:endParaRPr lang="en-US" sz="1500" dirty="0"/>
          </a:p>
        </p:txBody>
      </p:sp>
      <p:sp>
        <p:nvSpPr>
          <p:cNvPr id="13" name="Shape 9"/>
          <p:cNvSpPr/>
          <p:nvPr/>
        </p:nvSpPr>
        <p:spPr>
          <a:xfrm>
            <a:off x="5852160" y="1417320"/>
            <a:ext cx="2377440" cy="2240280"/>
          </a:xfrm>
          <a:prstGeom prst="roundRect">
            <a:avLst>
              <a:gd name="adj" fmla="val 4898"/>
            </a:avLst>
          </a:prstGeom>
          <a:solidFill>
            <a:srgbClr val="F1F3F6"/>
          </a:solidFill>
          <a:ln w="12700">
            <a:solidFill>
              <a:srgbClr val="F1F3F6"/>
            </a:solidFill>
            <a:prstDash val="solid"/>
          </a:ln>
        </p:spPr>
      </p:sp>
      <p:sp>
        <p:nvSpPr>
          <p:cNvPr id="14" name="Shape 10"/>
          <p:cNvSpPr/>
          <p:nvPr/>
        </p:nvSpPr>
        <p:spPr>
          <a:xfrm>
            <a:off x="6126480" y="1691640"/>
            <a:ext cx="640080" cy="640080"/>
          </a:xfrm>
          <a:prstGeom prst="ellipse">
            <a:avLst/>
          </a:prstGeom>
          <a:solidFill>
            <a:srgbClr val="14213D"/>
          </a:solidFill>
          <a:ln w="12700">
            <a:solidFill>
              <a:srgbClr val="14213D"/>
            </a:solidFill>
            <a:prstDash val="solid"/>
          </a:ln>
        </p:spPr>
      </p:sp>
      <p:pic>
        <p:nvPicPr>
          <p:cNvPr id="15" name="Image 2" descr="preencoded.png">    </p:cNvPr>
          <p:cNvPicPr>
            <a:picLocks noChangeAspect="1"/>
          </p:cNvPicPr>
          <p:nvPr/>
        </p:nvPicPr>
        <p:blipFill>
          <a:blip r:embed="rId3"/>
          <a:stretch>
            <a:fillRect/>
          </a:stretch>
        </p:blipFill>
        <p:spPr>
          <a:xfrm>
            <a:off x="6280099" y="1845259"/>
            <a:ext cx="332842" cy="332842"/>
          </a:xfrm>
          <a:prstGeom prst="rect">
            <a:avLst/>
          </a:prstGeom>
        </p:spPr>
      </p:pic>
      <p:sp>
        <p:nvSpPr>
          <p:cNvPr id="16" name="Text 11"/>
          <p:cNvSpPr txBox="1"/>
          <p:nvPr/>
        </p:nvSpPr>
        <p:spPr>
          <a:xfrm>
            <a:off x="6126480" y="2468880"/>
            <a:ext cx="1920240"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Identität</a:t>
            </a:r>
            <a:endParaRPr lang="en-US" sz="1800" dirty="0"/>
          </a:p>
        </p:txBody>
      </p:sp>
      <p:sp>
        <p:nvSpPr>
          <p:cNvPr id="17" name="Text 12"/>
          <p:cNvSpPr txBox="1"/>
          <p:nvPr/>
        </p:nvSpPr>
        <p:spPr>
          <a:xfrm>
            <a:off x="6126480" y="2834640"/>
            <a:ext cx="192024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Viele sehen sich als Taiwaner, nicht als Chinesen</a:t>
            </a:r>
            <a:endParaRPr lang="en-US" sz="1500" dirty="0"/>
          </a:p>
        </p:txBody>
      </p:sp>
      <p:sp>
        <p:nvSpPr>
          <p:cNvPr id="18" name="Shape 13"/>
          <p:cNvSpPr/>
          <p:nvPr/>
        </p:nvSpPr>
        <p:spPr>
          <a:xfrm>
            <a:off x="548640" y="3931920"/>
            <a:ext cx="2377440" cy="2240280"/>
          </a:xfrm>
          <a:prstGeom prst="roundRect">
            <a:avLst>
              <a:gd name="adj" fmla="val 4898"/>
            </a:avLst>
          </a:prstGeom>
          <a:solidFill>
            <a:srgbClr val="F1F3F6"/>
          </a:solidFill>
          <a:ln w="12700">
            <a:solidFill>
              <a:srgbClr val="F1F3F6"/>
            </a:solidFill>
            <a:prstDash val="solid"/>
          </a:ln>
        </p:spPr>
      </p:sp>
      <p:sp>
        <p:nvSpPr>
          <p:cNvPr id="19" name="Shape 14"/>
          <p:cNvSpPr/>
          <p:nvPr/>
        </p:nvSpPr>
        <p:spPr>
          <a:xfrm>
            <a:off x="822960" y="4206240"/>
            <a:ext cx="640080" cy="640080"/>
          </a:xfrm>
          <a:prstGeom prst="ellipse">
            <a:avLst/>
          </a:prstGeom>
          <a:solidFill>
            <a:srgbClr val="14213D"/>
          </a:solidFill>
          <a:ln w="12700">
            <a:solidFill>
              <a:srgbClr val="14213D"/>
            </a:solidFill>
            <a:prstDash val="solid"/>
          </a:ln>
        </p:spPr>
      </p:sp>
      <p:pic>
        <p:nvPicPr>
          <p:cNvPr id="20" name="Image 3" descr="preencoded.png">    </p:cNvPr>
          <p:cNvPicPr>
            <a:picLocks noChangeAspect="1"/>
          </p:cNvPicPr>
          <p:nvPr/>
        </p:nvPicPr>
        <p:blipFill>
          <a:blip r:embed="rId4"/>
          <a:stretch>
            <a:fillRect/>
          </a:stretch>
        </p:blipFill>
        <p:spPr>
          <a:xfrm>
            <a:off x="976579" y="4359859"/>
            <a:ext cx="332842" cy="332842"/>
          </a:xfrm>
          <a:prstGeom prst="rect">
            <a:avLst/>
          </a:prstGeom>
        </p:spPr>
      </p:pic>
      <p:sp>
        <p:nvSpPr>
          <p:cNvPr id="21" name="Text 15"/>
          <p:cNvSpPr txBox="1"/>
          <p:nvPr/>
        </p:nvSpPr>
        <p:spPr>
          <a:xfrm>
            <a:off x="822960" y="4983480"/>
            <a:ext cx="1920240"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Sicherheit</a:t>
            </a:r>
            <a:endParaRPr lang="en-US" sz="1800" dirty="0"/>
          </a:p>
        </p:txBody>
      </p:sp>
      <p:sp>
        <p:nvSpPr>
          <p:cNvPr id="22" name="Text 16"/>
          <p:cNvSpPr txBox="1"/>
          <p:nvPr/>
        </p:nvSpPr>
        <p:spPr>
          <a:xfrm>
            <a:off x="822960" y="5349240"/>
            <a:ext cx="192024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China will Kontrolle, Taiwan fürchtet Angriff</a:t>
            </a:r>
            <a:endParaRPr lang="en-US" sz="1500" dirty="0"/>
          </a:p>
        </p:txBody>
      </p:sp>
      <p:sp>
        <p:nvSpPr>
          <p:cNvPr id="23" name="Shape 17"/>
          <p:cNvSpPr/>
          <p:nvPr/>
        </p:nvSpPr>
        <p:spPr>
          <a:xfrm>
            <a:off x="3200400" y="3931920"/>
            <a:ext cx="2377440" cy="2240280"/>
          </a:xfrm>
          <a:prstGeom prst="roundRect">
            <a:avLst>
              <a:gd name="adj" fmla="val 4898"/>
            </a:avLst>
          </a:prstGeom>
          <a:solidFill>
            <a:srgbClr val="F1F3F6"/>
          </a:solidFill>
          <a:ln w="12700">
            <a:solidFill>
              <a:srgbClr val="F1F3F6"/>
            </a:solidFill>
            <a:prstDash val="solid"/>
          </a:ln>
        </p:spPr>
      </p:sp>
      <p:sp>
        <p:nvSpPr>
          <p:cNvPr id="24" name="Shape 18"/>
          <p:cNvSpPr/>
          <p:nvPr/>
        </p:nvSpPr>
        <p:spPr>
          <a:xfrm>
            <a:off x="3474720" y="4206240"/>
            <a:ext cx="640080" cy="640080"/>
          </a:xfrm>
          <a:prstGeom prst="ellipse">
            <a:avLst/>
          </a:prstGeom>
          <a:solidFill>
            <a:srgbClr val="14213D"/>
          </a:solidFill>
          <a:ln w="12700">
            <a:solidFill>
              <a:srgbClr val="14213D"/>
            </a:solidFill>
            <a:prstDash val="solid"/>
          </a:ln>
        </p:spPr>
      </p:sp>
      <p:pic>
        <p:nvPicPr>
          <p:cNvPr id="25" name="Image 4" descr="preencoded.png">    </p:cNvPr>
          <p:cNvPicPr>
            <a:picLocks noChangeAspect="1"/>
          </p:cNvPicPr>
          <p:nvPr/>
        </p:nvPicPr>
        <p:blipFill>
          <a:blip r:embed="rId5"/>
          <a:stretch>
            <a:fillRect/>
          </a:stretch>
        </p:blipFill>
        <p:spPr>
          <a:xfrm>
            <a:off x="3628339" y="4359859"/>
            <a:ext cx="332842" cy="332842"/>
          </a:xfrm>
          <a:prstGeom prst="rect">
            <a:avLst/>
          </a:prstGeom>
        </p:spPr>
      </p:pic>
      <p:sp>
        <p:nvSpPr>
          <p:cNvPr id="26" name="Text 19"/>
          <p:cNvSpPr txBox="1"/>
          <p:nvPr/>
        </p:nvSpPr>
        <p:spPr>
          <a:xfrm>
            <a:off x="3474720" y="4983480"/>
            <a:ext cx="1920240"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Großmächte</a:t>
            </a:r>
            <a:endParaRPr lang="en-US" sz="1800" dirty="0"/>
          </a:p>
        </p:txBody>
      </p:sp>
      <p:sp>
        <p:nvSpPr>
          <p:cNvPr id="27" name="Text 20"/>
          <p:cNvSpPr txBox="1"/>
          <p:nvPr/>
        </p:nvSpPr>
        <p:spPr>
          <a:xfrm>
            <a:off x="3474720" y="5349240"/>
            <a:ext cx="192024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USA und China ringen um den Indo-Pazifik</a:t>
            </a:r>
            <a:endParaRPr lang="en-US" sz="1500" dirty="0"/>
          </a:p>
        </p:txBody>
      </p:sp>
      <p:sp>
        <p:nvSpPr>
          <p:cNvPr id="28" name="Shape 21"/>
          <p:cNvSpPr/>
          <p:nvPr/>
        </p:nvSpPr>
        <p:spPr>
          <a:xfrm>
            <a:off x="5852160" y="3931920"/>
            <a:ext cx="2377440" cy="2240280"/>
          </a:xfrm>
          <a:prstGeom prst="roundRect">
            <a:avLst>
              <a:gd name="adj" fmla="val 4898"/>
            </a:avLst>
          </a:prstGeom>
          <a:solidFill>
            <a:srgbClr val="F1F3F6"/>
          </a:solidFill>
          <a:ln w="12700">
            <a:solidFill>
              <a:srgbClr val="F1F3F6"/>
            </a:solidFill>
            <a:prstDash val="solid"/>
          </a:ln>
        </p:spPr>
      </p:sp>
      <p:sp>
        <p:nvSpPr>
          <p:cNvPr id="29" name="Shape 22"/>
          <p:cNvSpPr/>
          <p:nvPr/>
        </p:nvSpPr>
        <p:spPr>
          <a:xfrm>
            <a:off x="6126480" y="4206240"/>
            <a:ext cx="640080" cy="640080"/>
          </a:xfrm>
          <a:prstGeom prst="ellipse">
            <a:avLst/>
          </a:prstGeom>
          <a:solidFill>
            <a:srgbClr val="D9A21B"/>
          </a:solidFill>
          <a:ln w="12700">
            <a:solidFill>
              <a:srgbClr val="D9A21B"/>
            </a:solidFill>
            <a:prstDash val="solid"/>
          </a:ln>
        </p:spPr>
      </p:sp>
      <p:pic>
        <p:nvPicPr>
          <p:cNvPr id="30" name="Image 5" descr="preencoded.png">    </p:cNvPr>
          <p:cNvPicPr>
            <a:picLocks noChangeAspect="1"/>
          </p:cNvPicPr>
          <p:nvPr/>
        </p:nvPicPr>
        <p:blipFill>
          <a:blip r:embed="rId6"/>
          <a:stretch>
            <a:fillRect/>
          </a:stretch>
        </p:blipFill>
        <p:spPr>
          <a:xfrm>
            <a:off x="6280099" y="4359859"/>
            <a:ext cx="332842" cy="332842"/>
          </a:xfrm>
          <a:prstGeom prst="rect">
            <a:avLst/>
          </a:prstGeom>
        </p:spPr>
      </p:pic>
      <p:sp>
        <p:nvSpPr>
          <p:cNvPr id="31" name="Text 23"/>
          <p:cNvSpPr txBox="1"/>
          <p:nvPr/>
        </p:nvSpPr>
        <p:spPr>
          <a:xfrm>
            <a:off x="6126480" y="4983480"/>
            <a:ext cx="1920240"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Wirtschaft</a:t>
            </a:r>
            <a:endParaRPr lang="en-US" sz="1800" dirty="0"/>
          </a:p>
        </p:txBody>
      </p:sp>
      <p:sp>
        <p:nvSpPr>
          <p:cNvPr id="32" name="Text 24"/>
          <p:cNvSpPr txBox="1"/>
          <p:nvPr/>
        </p:nvSpPr>
        <p:spPr>
          <a:xfrm>
            <a:off x="6126480" y="5349240"/>
            <a:ext cx="192024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Taiwan fertigt die modernsten Chips der Welt</a:t>
            </a:r>
            <a:endParaRPr lang="en-US" sz="1500" dirty="0"/>
          </a:p>
        </p:txBody>
      </p:sp>
      <p:pic>
        <p:nvPicPr>
          <p:cNvPr id="33" name="Image 6" descr="crop/wafer.jpg">    </p:cNvPr>
          <p:cNvPicPr>
            <a:picLocks noChangeAspect="1"/>
          </p:cNvPicPr>
          <p:nvPr/>
        </p:nvPicPr>
        <p:blipFill>
          <a:blip r:embed="rId7"/>
          <a:stretch>
            <a:fillRect/>
          </a:stretch>
        </p:blipFill>
        <p:spPr>
          <a:xfrm>
            <a:off x="8503920" y="1417320"/>
            <a:ext cx="3139135" cy="3139135"/>
          </a:xfrm>
          <a:prstGeom prst="rect">
            <a:avLst/>
          </a:prstGeom>
        </p:spPr>
      </p:pic>
      <p:sp>
        <p:nvSpPr>
          <p:cNvPr id="34" name="Text 25"/>
          <p:cNvSpPr txBox="1"/>
          <p:nvPr/>
        </p:nvSpPr>
        <p:spPr>
          <a:xfrm>
            <a:off x="8503920" y="4602175"/>
            <a:ext cx="3139135"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Silizium-Wafer: Taiwan ist Weltmarktführer bei Hightech-Chips (Foto: Inductiveload, gemeinfrei)</a:t>
            </a:r>
            <a:endParaRPr lang="en-US" sz="9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6  Wer will was – und mit welchem Recht?</a:t>
            </a:r>
            <a:endParaRPr lang="en-US" sz="3200" dirty="0"/>
          </a:p>
        </p:txBody>
      </p:sp>
      <p:sp>
        <p:nvSpPr>
          <p:cNvPr id="3" name="Shape 1"/>
          <p:cNvSpPr/>
          <p:nvPr/>
        </p:nvSpPr>
        <p:spPr>
          <a:xfrm>
            <a:off x="548640" y="1417320"/>
            <a:ext cx="2567864" cy="4846320"/>
          </a:xfrm>
          <a:prstGeom prst="roundRect">
            <a:avLst>
              <a:gd name="adj" fmla="val 4273"/>
            </a:avLst>
          </a:prstGeom>
          <a:solidFill>
            <a:srgbClr val="F1F3F6"/>
          </a:solidFill>
          <a:ln w="12700">
            <a:solidFill>
              <a:srgbClr val="F1F3F6"/>
            </a:solidFill>
            <a:prstDash val="solid"/>
          </a:ln>
        </p:spPr>
      </p:sp>
      <p:pic>
        <p:nvPicPr>
          <p:cNvPr id="4" name="Image 0" descr="img/flag_prc.png">    </p:cNvPr>
          <p:cNvPicPr>
            <a:picLocks noChangeAspect="1"/>
          </p:cNvPicPr>
          <p:nvPr/>
        </p:nvPicPr>
        <p:blipFill>
          <a:blip r:embed="rId1"/>
          <a:stretch>
            <a:fillRect/>
          </a:stretch>
        </p:blipFill>
        <p:spPr>
          <a:xfrm>
            <a:off x="822960" y="1691640"/>
            <a:ext cx="822960" cy="548640"/>
          </a:xfrm>
          <a:prstGeom prst="rect">
            <a:avLst/>
          </a:prstGeom>
        </p:spPr>
      </p:pic>
      <p:sp>
        <p:nvSpPr>
          <p:cNvPr id="5" name="Text 2"/>
          <p:cNvSpPr txBox="1"/>
          <p:nvPr/>
        </p:nvSpPr>
        <p:spPr>
          <a:xfrm>
            <a:off x="822960" y="2377440"/>
            <a:ext cx="2110664" cy="41148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VR China</a:t>
            </a:r>
            <a:endParaRPr lang="en-US" sz="2000" dirty="0"/>
          </a:p>
        </p:txBody>
      </p:sp>
      <p:sp>
        <p:nvSpPr>
          <p:cNvPr id="6" name="Text 3"/>
          <p:cNvSpPr txBox="1"/>
          <p:nvPr/>
        </p:nvSpPr>
        <p:spPr>
          <a:xfrm>
            <a:off x="822960" y="297180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WILL</a:t>
            </a:r>
            <a:endParaRPr lang="en-US" sz="1200" dirty="0"/>
          </a:p>
        </p:txBody>
      </p:sp>
      <p:sp>
        <p:nvSpPr>
          <p:cNvPr id="7" name="Text 4"/>
          <p:cNvSpPr txBox="1"/>
          <p:nvPr/>
        </p:nvSpPr>
        <p:spPr>
          <a:xfrm>
            <a:off x="822960" y="3246120"/>
            <a:ext cx="2110664" cy="118872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Einheit Chinas, keine Unabhängigkeit Taiwans</a:t>
            </a:r>
            <a:endParaRPr lang="en-US" sz="1600" dirty="0"/>
          </a:p>
        </p:txBody>
      </p:sp>
      <p:sp>
        <p:nvSpPr>
          <p:cNvPr id="8" name="Text 5"/>
          <p:cNvSpPr txBox="1"/>
          <p:nvPr/>
        </p:nvSpPr>
        <p:spPr>
          <a:xfrm>
            <a:off x="822960" y="452628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LEGITIMATION</a:t>
            </a:r>
            <a:endParaRPr lang="en-US" sz="1200" dirty="0"/>
          </a:p>
        </p:txBody>
      </p:sp>
      <p:sp>
        <p:nvSpPr>
          <p:cNvPr id="9" name="Text 6"/>
          <p:cNvSpPr txBox="1"/>
          <p:nvPr/>
        </p:nvSpPr>
        <p:spPr>
          <a:xfrm>
            <a:off x="822960" y="4800600"/>
            <a:ext cx="2110664" cy="128016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Staatliche Souveränität, Ein-China-Prinzip; KP regiert</a:t>
            </a:r>
            <a:endParaRPr lang="en-US" sz="1500" dirty="0"/>
          </a:p>
        </p:txBody>
      </p:sp>
      <p:sp>
        <p:nvSpPr>
          <p:cNvPr id="10" name="Shape 7"/>
          <p:cNvSpPr/>
          <p:nvPr/>
        </p:nvSpPr>
        <p:spPr>
          <a:xfrm>
            <a:off x="3390824" y="1417320"/>
            <a:ext cx="2567864" cy="4846320"/>
          </a:xfrm>
          <a:prstGeom prst="roundRect">
            <a:avLst>
              <a:gd name="adj" fmla="val 4273"/>
            </a:avLst>
          </a:prstGeom>
          <a:solidFill>
            <a:srgbClr val="F1F3F6"/>
          </a:solidFill>
          <a:ln w="12700">
            <a:solidFill>
              <a:srgbClr val="F1F3F6"/>
            </a:solidFill>
            <a:prstDash val="solid"/>
          </a:ln>
        </p:spPr>
      </p:sp>
      <p:pic>
        <p:nvPicPr>
          <p:cNvPr id="11" name="Image 1" descr="img/flag_roc.png">    </p:cNvPr>
          <p:cNvPicPr>
            <a:picLocks noChangeAspect="1"/>
          </p:cNvPicPr>
          <p:nvPr/>
        </p:nvPicPr>
        <p:blipFill>
          <a:blip r:embed="rId2"/>
          <a:stretch>
            <a:fillRect/>
          </a:stretch>
        </p:blipFill>
        <p:spPr>
          <a:xfrm>
            <a:off x="3665144" y="1691640"/>
            <a:ext cx="822960" cy="548640"/>
          </a:xfrm>
          <a:prstGeom prst="rect">
            <a:avLst/>
          </a:prstGeom>
        </p:spPr>
      </p:pic>
      <p:sp>
        <p:nvSpPr>
          <p:cNvPr id="12" name="Text 8"/>
          <p:cNvSpPr txBox="1"/>
          <p:nvPr/>
        </p:nvSpPr>
        <p:spPr>
          <a:xfrm>
            <a:off x="3665144" y="2377440"/>
            <a:ext cx="2110664" cy="41148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Taiwan</a:t>
            </a:r>
            <a:endParaRPr lang="en-US" sz="2000" dirty="0"/>
          </a:p>
        </p:txBody>
      </p:sp>
      <p:sp>
        <p:nvSpPr>
          <p:cNvPr id="13" name="Text 9"/>
          <p:cNvSpPr txBox="1"/>
          <p:nvPr/>
        </p:nvSpPr>
        <p:spPr>
          <a:xfrm>
            <a:off x="3665144" y="297180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WILL</a:t>
            </a:r>
            <a:endParaRPr lang="en-US" sz="1200" dirty="0"/>
          </a:p>
        </p:txBody>
      </p:sp>
      <p:sp>
        <p:nvSpPr>
          <p:cNvPr id="14" name="Text 10"/>
          <p:cNvSpPr txBox="1"/>
          <p:nvPr/>
        </p:nvSpPr>
        <p:spPr>
          <a:xfrm>
            <a:off x="3665144" y="3246120"/>
            <a:ext cx="2110664" cy="118872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Sicherheit, Selbstbestimmung, Status quo</a:t>
            </a:r>
            <a:endParaRPr lang="en-US" sz="1600" dirty="0"/>
          </a:p>
        </p:txBody>
      </p:sp>
      <p:sp>
        <p:nvSpPr>
          <p:cNvPr id="15" name="Text 11"/>
          <p:cNvSpPr txBox="1"/>
          <p:nvPr/>
        </p:nvSpPr>
        <p:spPr>
          <a:xfrm>
            <a:off x="3665144" y="452628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LEGITIMATION</a:t>
            </a:r>
            <a:endParaRPr lang="en-US" sz="1200" dirty="0"/>
          </a:p>
        </p:txBody>
      </p:sp>
      <p:sp>
        <p:nvSpPr>
          <p:cNvPr id="16" name="Text 12"/>
          <p:cNvSpPr txBox="1"/>
          <p:nvPr/>
        </p:nvSpPr>
        <p:spPr>
          <a:xfrm>
            <a:off x="3665144" y="4800600"/>
            <a:ext cx="2110664" cy="128016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Demokratische Wahlen</a:t>
            </a:r>
            <a:endParaRPr lang="en-US" sz="1500" dirty="0"/>
          </a:p>
        </p:txBody>
      </p:sp>
      <p:sp>
        <p:nvSpPr>
          <p:cNvPr id="17" name="Shape 13"/>
          <p:cNvSpPr/>
          <p:nvPr/>
        </p:nvSpPr>
        <p:spPr>
          <a:xfrm>
            <a:off x="6233008" y="1417320"/>
            <a:ext cx="2567864" cy="4846320"/>
          </a:xfrm>
          <a:prstGeom prst="roundRect">
            <a:avLst>
              <a:gd name="adj" fmla="val 4273"/>
            </a:avLst>
          </a:prstGeom>
          <a:solidFill>
            <a:srgbClr val="F1F3F6"/>
          </a:solidFill>
          <a:ln w="12700">
            <a:solidFill>
              <a:srgbClr val="F1F3F6"/>
            </a:solidFill>
            <a:prstDash val="solid"/>
          </a:ln>
        </p:spPr>
      </p:sp>
      <p:pic>
        <p:nvPicPr>
          <p:cNvPr id="18" name="Image 2" descr="img/flag_us.png">    </p:cNvPr>
          <p:cNvPicPr>
            <a:picLocks noChangeAspect="1"/>
          </p:cNvPicPr>
          <p:nvPr/>
        </p:nvPicPr>
        <p:blipFill>
          <a:blip r:embed="rId3"/>
          <a:stretch>
            <a:fillRect/>
          </a:stretch>
        </p:blipFill>
        <p:spPr>
          <a:xfrm>
            <a:off x="6507328" y="1691640"/>
            <a:ext cx="868680" cy="457200"/>
          </a:xfrm>
          <a:prstGeom prst="rect">
            <a:avLst/>
          </a:prstGeom>
        </p:spPr>
      </p:pic>
      <p:sp>
        <p:nvSpPr>
          <p:cNvPr id="19" name="Text 14"/>
          <p:cNvSpPr txBox="1"/>
          <p:nvPr/>
        </p:nvSpPr>
        <p:spPr>
          <a:xfrm>
            <a:off x="6507328" y="2377440"/>
            <a:ext cx="2110664" cy="41148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USA</a:t>
            </a:r>
            <a:endParaRPr lang="en-US" sz="2000" dirty="0"/>
          </a:p>
        </p:txBody>
      </p:sp>
      <p:sp>
        <p:nvSpPr>
          <p:cNvPr id="20" name="Text 15"/>
          <p:cNvSpPr txBox="1"/>
          <p:nvPr/>
        </p:nvSpPr>
        <p:spPr>
          <a:xfrm>
            <a:off x="6507328" y="297180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WILL</a:t>
            </a:r>
            <a:endParaRPr lang="en-US" sz="1200" dirty="0"/>
          </a:p>
        </p:txBody>
      </p:sp>
      <p:sp>
        <p:nvSpPr>
          <p:cNvPr id="21" name="Text 16"/>
          <p:cNvSpPr txBox="1"/>
          <p:nvPr/>
        </p:nvSpPr>
        <p:spPr>
          <a:xfrm>
            <a:off x="6507328" y="3246120"/>
            <a:ext cx="2110664" cy="118872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Stabilität, China eindämmen, Taiwan verteidigungsfähig halten</a:t>
            </a:r>
            <a:endParaRPr lang="en-US" sz="1600" dirty="0"/>
          </a:p>
        </p:txBody>
      </p:sp>
      <p:sp>
        <p:nvSpPr>
          <p:cNvPr id="22" name="Text 17"/>
          <p:cNvSpPr txBox="1"/>
          <p:nvPr/>
        </p:nvSpPr>
        <p:spPr>
          <a:xfrm>
            <a:off x="6507328" y="452628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LEGITIMATION</a:t>
            </a:r>
            <a:endParaRPr lang="en-US" sz="1200" dirty="0"/>
          </a:p>
        </p:txBody>
      </p:sp>
      <p:sp>
        <p:nvSpPr>
          <p:cNvPr id="23" name="Text 18"/>
          <p:cNvSpPr txBox="1"/>
          <p:nvPr/>
        </p:nvSpPr>
        <p:spPr>
          <a:xfrm>
            <a:off x="6507328" y="4800600"/>
            <a:ext cx="2110664" cy="128016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Taiwan Relations Act (1979) – ohne offizielle Beziehungen</a:t>
            </a:r>
            <a:endParaRPr lang="en-US" sz="1500" dirty="0"/>
          </a:p>
        </p:txBody>
      </p:sp>
      <p:sp>
        <p:nvSpPr>
          <p:cNvPr id="24" name="Shape 19"/>
          <p:cNvSpPr/>
          <p:nvPr/>
        </p:nvSpPr>
        <p:spPr>
          <a:xfrm>
            <a:off x="9075191" y="1417320"/>
            <a:ext cx="2567864" cy="4846320"/>
          </a:xfrm>
          <a:prstGeom prst="roundRect">
            <a:avLst>
              <a:gd name="adj" fmla="val 4273"/>
            </a:avLst>
          </a:prstGeom>
          <a:solidFill>
            <a:srgbClr val="F1F3F6"/>
          </a:solidFill>
          <a:ln w="12700">
            <a:solidFill>
              <a:srgbClr val="F1F3F6"/>
            </a:solidFill>
            <a:prstDash val="solid"/>
          </a:ln>
        </p:spPr>
      </p:sp>
      <p:pic>
        <p:nvPicPr>
          <p:cNvPr id="25" name="Image 3" descr="img/flag_eu.png">    </p:cNvPr>
          <p:cNvPicPr>
            <a:picLocks noChangeAspect="1"/>
          </p:cNvPicPr>
          <p:nvPr/>
        </p:nvPicPr>
        <p:blipFill>
          <a:blip r:embed="rId4"/>
          <a:stretch>
            <a:fillRect/>
          </a:stretch>
        </p:blipFill>
        <p:spPr>
          <a:xfrm>
            <a:off x="9349511" y="1691640"/>
            <a:ext cx="822960" cy="548640"/>
          </a:xfrm>
          <a:prstGeom prst="rect">
            <a:avLst/>
          </a:prstGeom>
        </p:spPr>
      </p:pic>
      <p:sp>
        <p:nvSpPr>
          <p:cNvPr id="26" name="Text 20"/>
          <p:cNvSpPr txBox="1"/>
          <p:nvPr/>
        </p:nvSpPr>
        <p:spPr>
          <a:xfrm>
            <a:off x="9349511" y="2377440"/>
            <a:ext cx="2110664" cy="41148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EU / Deutschland</a:t>
            </a:r>
            <a:endParaRPr lang="en-US" sz="2000" dirty="0"/>
          </a:p>
        </p:txBody>
      </p:sp>
      <p:sp>
        <p:nvSpPr>
          <p:cNvPr id="27" name="Text 21"/>
          <p:cNvSpPr txBox="1"/>
          <p:nvPr/>
        </p:nvSpPr>
        <p:spPr>
          <a:xfrm>
            <a:off x="9349511" y="297180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WILL</a:t>
            </a:r>
            <a:endParaRPr lang="en-US" sz="1200" dirty="0"/>
          </a:p>
        </p:txBody>
      </p:sp>
      <p:sp>
        <p:nvSpPr>
          <p:cNvPr id="28" name="Text 22"/>
          <p:cNvSpPr txBox="1"/>
          <p:nvPr/>
        </p:nvSpPr>
        <p:spPr>
          <a:xfrm>
            <a:off x="9349511" y="3246120"/>
            <a:ext cx="2110664" cy="118872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Frieden, offene Handelswege, regelbasierte Ordnung</a:t>
            </a:r>
            <a:endParaRPr lang="en-US" sz="1600" dirty="0"/>
          </a:p>
        </p:txBody>
      </p:sp>
      <p:sp>
        <p:nvSpPr>
          <p:cNvPr id="29" name="Text 23"/>
          <p:cNvSpPr txBox="1"/>
          <p:nvPr/>
        </p:nvSpPr>
        <p:spPr>
          <a:xfrm>
            <a:off x="9349511" y="4526280"/>
            <a:ext cx="2110664"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LEGITIMATION</a:t>
            </a:r>
            <a:endParaRPr lang="en-US" sz="1200" dirty="0"/>
          </a:p>
        </p:txBody>
      </p:sp>
      <p:sp>
        <p:nvSpPr>
          <p:cNvPr id="30" name="Text 24"/>
          <p:cNvSpPr txBox="1"/>
          <p:nvPr/>
        </p:nvSpPr>
        <p:spPr>
          <a:xfrm>
            <a:off x="9349511" y="4800600"/>
            <a:ext cx="2110664" cy="128016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Ein-China-Politik, aber enge Wirtschaftskontakte zu Taiwan</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7  Was verbindet, was trennt?</a:t>
            </a:r>
            <a:endParaRPr lang="en-US" sz="3200" dirty="0"/>
          </a:p>
        </p:txBody>
      </p:sp>
      <p:sp>
        <p:nvSpPr>
          <p:cNvPr id="3" name="Shape 1"/>
          <p:cNvSpPr/>
          <p:nvPr/>
        </p:nvSpPr>
        <p:spPr>
          <a:xfrm>
            <a:off x="548640" y="1417320"/>
            <a:ext cx="5364328" cy="4846320"/>
          </a:xfrm>
          <a:prstGeom prst="roundRect">
            <a:avLst>
              <a:gd name="adj" fmla="val 2264"/>
            </a:avLst>
          </a:prstGeom>
          <a:solidFill>
            <a:srgbClr val="F1F3F6"/>
          </a:solidFill>
          <a:ln w="12700">
            <a:solidFill>
              <a:srgbClr val="F1F3F6"/>
            </a:solidFill>
            <a:prstDash val="solid"/>
          </a:ln>
        </p:spPr>
      </p:sp>
      <p:sp>
        <p:nvSpPr>
          <p:cNvPr id="4" name="Shape 2"/>
          <p:cNvSpPr/>
          <p:nvPr/>
        </p:nvSpPr>
        <p:spPr>
          <a:xfrm>
            <a:off x="914400" y="1737360"/>
            <a:ext cx="822960" cy="822960"/>
          </a:xfrm>
          <a:prstGeom prst="ellipse">
            <a:avLst/>
          </a:prstGeom>
          <a:solidFill>
            <a:srgbClr val="2F6B4F"/>
          </a:solidFill>
          <a:ln w="12700">
            <a:solidFill>
              <a:srgbClr val="2F6B4F"/>
            </a:solidFill>
            <a:prstDash val="solid"/>
          </a:ln>
        </p:spPr>
      </p:sp>
      <p:pic>
        <p:nvPicPr>
          <p:cNvPr id="5" name="Image 0" descr="preencoded.png">    </p:cNvPr>
          <p:cNvPicPr>
            <a:picLocks noChangeAspect="1"/>
          </p:cNvPicPr>
          <p:nvPr/>
        </p:nvPicPr>
        <p:blipFill>
          <a:blip r:embed="rId1"/>
          <a:stretch>
            <a:fillRect/>
          </a:stretch>
        </p:blipFill>
        <p:spPr>
          <a:xfrm>
            <a:off x="1111910" y="1934870"/>
            <a:ext cx="427939" cy="427939"/>
          </a:xfrm>
          <a:prstGeom prst="rect">
            <a:avLst/>
          </a:prstGeom>
        </p:spPr>
      </p:pic>
      <p:sp>
        <p:nvSpPr>
          <p:cNvPr id="6" name="Text 3"/>
          <p:cNvSpPr txBox="1"/>
          <p:nvPr/>
        </p:nvSpPr>
        <p:spPr>
          <a:xfrm>
            <a:off x="1965960" y="1737360"/>
            <a:ext cx="3535528" cy="822960"/>
          </a:xfrm>
          <a:prstGeom prst="rect">
            <a:avLst/>
          </a:prstGeom>
          <a:noFill/>
          <a:ln/>
        </p:spPr>
        <p:txBody>
          <a:bodyPr wrap="square" lIns="0" tIns="0" rIns="0" bIns="0" rtlCol="0" anchor="ctr"/>
          <a:lstStyle/>
          <a:p>
            <a:pPr indent="0" marL="0">
              <a:buNone/>
            </a:pPr>
            <a:r>
              <a:rPr lang="en-US" sz="2600" b="1" dirty="0">
                <a:solidFill>
                  <a:srgbClr val="2F6B4F"/>
                </a:solidFill>
                <a:latin typeface="Arial" pitchFamily="34" charset="0"/>
                <a:ea typeface="Arial" pitchFamily="34" charset="-122"/>
                <a:cs typeface="Arial" pitchFamily="34" charset="-120"/>
              </a:rPr>
              <a:t>Gemeinsam</a:t>
            </a:r>
            <a:endParaRPr lang="en-US" sz="2600" dirty="0"/>
          </a:p>
        </p:txBody>
      </p:sp>
      <p:sp>
        <p:nvSpPr>
          <p:cNvPr id="7" name="Text 4"/>
          <p:cNvSpPr txBox="1"/>
          <p:nvPr/>
        </p:nvSpPr>
        <p:spPr>
          <a:xfrm>
            <a:off x="914400" y="2926080"/>
            <a:ext cx="4632808" cy="3108960"/>
          </a:xfrm>
          <a:prstGeom prst="rect">
            <a:avLst/>
          </a:prstGeom>
          <a:noFill/>
          <a:ln/>
        </p:spPr>
        <p:txBody>
          <a:bodyPr wrap="square" lIns="0" tIns="0" rIns="0" bIns="0" rtlCol="0" anchor="t"/>
          <a:lstStyle/>
          <a:p>
            <a:pPr marL="177800" indent="-177800">
              <a:spcAft>
                <a:spcPts val="1400"/>
              </a:spcAft>
              <a:buSzPct val="100000"/>
              <a:buChar char="•"/>
            </a:pPr>
            <a:r>
              <a:rPr lang="en-US" sz="2000" dirty="0">
                <a:solidFill>
                  <a:srgbClr val="1F2937"/>
                </a:solidFill>
                <a:latin typeface="Calibri" pitchFamily="34" charset="0"/>
                <a:ea typeface="Calibri" pitchFamily="34" charset="-122"/>
                <a:cs typeface="Calibri" pitchFamily="34" charset="-120"/>
              </a:rPr>
              <a:t>Wohlstand durch Handel und Stabilität</a:t>
            </a:r>
            <a:endParaRPr lang="en-US" sz="2000" dirty="0"/>
          </a:p>
          <a:p>
            <a:pPr marL="177800" indent="-177800">
              <a:spcAft>
                <a:spcPts val="1400"/>
              </a:spcAft>
              <a:buSzPct val="100000"/>
              <a:buChar char="•"/>
            </a:pPr>
            <a:r>
              <a:rPr lang="en-US" sz="2000" dirty="0">
                <a:solidFill>
                  <a:srgbClr val="1F2937"/>
                </a:solidFill>
                <a:latin typeface="Calibri" pitchFamily="34" charset="0"/>
                <a:ea typeface="Calibri" pitchFamily="34" charset="-122"/>
                <a:cs typeface="Calibri" pitchFamily="34" charset="-120"/>
              </a:rPr>
              <a:t>Ein Krieg wäre für alle extrem teuer</a:t>
            </a:r>
            <a:endParaRPr lang="en-US" sz="2000" dirty="0"/>
          </a:p>
          <a:p>
            <a:pPr marL="177800" indent="-177800">
              <a:spcAft>
                <a:spcPts val="1400"/>
              </a:spcAft>
              <a:buSzPct val="100000"/>
              <a:buChar char="•"/>
            </a:pPr>
            <a:r>
              <a:rPr lang="en-US" sz="2000" dirty="0">
                <a:solidFill>
                  <a:srgbClr val="1F2937"/>
                </a:solidFill>
                <a:latin typeface="Calibri" pitchFamily="34" charset="0"/>
                <a:ea typeface="Calibri" pitchFamily="34" charset="-122"/>
                <a:cs typeface="Calibri" pitchFamily="34" charset="-120"/>
              </a:rPr>
              <a:t>Auch USA und EU wollen keine Eskalation</a:t>
            </a:r>
            <a:endParaRPr lang="en-US" sz="2000" dirty="0"/>
          </a:p>
        </p:txBody>
      </p:sp>
      <p:sp>
        <p:nvSpPr>
          <p:cNvPr id="8" name="Shape 5"/>
          <p:cNvSpPr/>
          <p:nvPr/>
        </p:nvSpPr>
        <p:spPr>
          <a:xfrm>
            <a:off x="6278728" y="1417320"/>
            <a:ext cx="5364328" cy="4846320"/>
          </a:xfrm>
          <a:prstGeom prst="roundRect">
            <a:avLst>
              <a:gd name="adj" fmla="val 2264"/>
            </a:avLst>
          </a:prstGeom>
          <a:solidFill>
            <a:srgbClr val="F1F3F6"/>
          </a:solidFill>
          <a:ln w="12700">
            <a:solidFill>
              <a:srgbClr val="F1F3F6"/>
            </a:solidFill>
            <a:prstDash val="solid"/>
          </a:ln>
        </p:spPr>
      </p:sp>
      <p:sp>
        <p:nvSpPr>
          <p:cNvPr id="9" name="Shape 6"/>
          <p:cNvSpPr/>
          <p:nvPr/>
        </p:nvSpPr>
        <p:spPr>
          <a:xfrm>
            <a:off x="6644488" y="1737360"/>
            <a:ext cx="822960" cy="822960"/>
          </a:xfrm>
          <a:prstGeom prst="ellipse">
            <a:avLst/>
          </a:prstGeom>
          <a:solidFill>
            <a:srgbClr val="C8102E"/>
          </a:solidFill>
          <a:ln w="12700">
            <a:solidFill>
              <a:srgbClr val="C8102E"/>
            </a:solidFill>
            <a:prstDash val="solid"/>
          </a:ln>
        </p:spPr>
      </p:sp>
      <p:pic>
        <p:nvPicPr>
          <p:cNvPr id="10" name="Image 1" descr="preencoded.png">    </p:cNvPr>
          <p:cNvPicPr>
            <a:picLocks noChangeAspect="1"/>
          </p:cNvPicPr>
          <p:nvPr/>
        </p:nvPicPr>
        <p:blipFill>
          <a:blip r:embed="rId2"/>
          <a:stretch>
            <a:fillRect/>
          </a:stretch>
        </p:blipFill>
        <p:spPr>
          <a:xfrm>
            <a:off x="6841998" y="1934870"/>
            <a:ext cx="427939" cy="427939"/>
          </a:xfrm>
          <a:prstGeom prst="rect">
            <a:avLst/>
          </a:prstGeom>
        </p:spPr>
      </p:pic>
      <p:sp>
        <p:nvSpPr>
          <p:cNvPr id="11" name="Text 7"/>
          <p:cNvSpPr txBox="1"/>
          <p:nvPr/>
        </p:nvSpPr>
        <p:spPr>
          <a:xfrm>
            <a:off x="7696048" y="1737360"/>
            <a:ext cx="3535528" cy="822960"/>
          </a:xfrm>
          <a:prstGeom prst="rect">
            <a:avLst/>
          </a:prstGeom>
          <a:noFill/>
          <a:ln/>
        </p:spPr>
        <p:txBody>
          <a:bodyPr wrap="square" lIns="0" tIns="0" rIns="0" bIns="0" rtlCol="0" anchor="ctr"/>
          <a:lstStyle/>
          <a:p>
            <a:pPr indent="0" marL="0">
              <a:buNone/>
            </a:pPr>
            <a:r>
              <a:rPr lang="en-US" sz="2600" b="1" dirty="0">
                <a:solidFill>
                  <a:srgbClr val="C8102E"/>
                </a:solidFill>
                <a:latin typeface="Arial" pitchFamily="34" charset="0"/>
                <a:ea typeface="Arial" pitchFamily="34" charset="-122"/>
                <a:cs typeface="Arial" pitchFamily="34" charset="-120"/>
              </a:rPr>
              <a:t>Unvereinbar</a:t>
            </a:r>
            <a:endParaRPr lang="en-US" sz="2600" dirty="0"/>
          </a:p>
        </p:txBody>
      </p:sp>
      <p:sp>
        <p:nvSpPr>
          <p:cNvPr id="12" name="Text 8"/>
          <p:cNvSpPr txBox="1"/>
          <p:nvPr/>
        </p:nvSpPr>
        <p:spPr>
          <a:xfrm>
            <a:off x="6644488" y="2926080"/>
            <a:ext cx="4632808" cy="3108960"/>
          </a:xfrm>
          <a:prstGeom prst="rect">
            <a:avLst/>
          </a:prstGeom>
          <a:noFill/>
          <a:ln/>
        </p:spPr>
        <p:txBody>
          <a:bodyPr wrap="square" lIns="0" tIns="0" rIns="0" bIns="0" rtlCol="0" anchor="t"/>
          <a:lstStyle/>
          <a:p>
            <a:pPr marL="177800" indent="-177800">
              <a:spcAft>
                <a:spcPts val="1400"/>
              </a:spcAft>
              <a:buSzPct val="100000"/>
              <a:buChar char="•"/>
            </a:pPr>
            <a:r>
              <a:rPr lang="en-US" sz="2000" dirty="0">
                <a:solidFill>
                  <a:srgbClr val="1F2937"/>
                </a:solidFill>
                <a:latin typeface="Calibri" pitchFamily="34" charset="0"/>
                <a:ea typeface="Calibri" pitchFamily="34" charset="-122"/>
                <a:cs typeface="Calibri" pitchFamily="34" charset="-120"/>
              </a:rPr>
              <a:t>China: Einheit ist nicht verhandelbar</a:t>
            </a:r>
            <a:endParaRPr lang="en-US" sz="2000" dirty="0"/>
          </a:p>
          <a:p>
            <a:pPr marL="177800" indent="-177800">
              <a:spcAft>
                <a:spcPts val="1400"/>
              </a:spcAft>
              <a:buSzPct val="100000"/>
              <a:buChar char="•"/>
            </a:pPr>
            <a:r>
              <a:rPr lang="en-US" sz="2000" dirty="0">
                <a:solidFill>
                  <a:srgbClr val="1F2937"/>
                </a:solidFill>
                <a:latin typeface="Calibri" pitchFamily="34" charset="0"/>
                <a:ea typeface="Calibri" pitchFamily="34" charset="-122"/>
                <a:cs typeface="Calibri" pitchFamily="34" charset="-120"/>
              </a:rPr>
              <a:t>Taiwan: Zukunft nicht von Peking bestimmt</a:t>
            </a:r>
            <a:endParaRPr lang="en-US" sz="2000" dirty="0"/>
          </a:p>
          <a:p>
            <a:pPr marL="177800" indent="-177800">
              <a:spcAft>
                <a:spcPts val="1400"/>
              </a:spcAft>
              <a:buSzPct val="100000"/>
              <a:buChar char="•"/>
            </a:pPr>
            <a:r>
              <a:rPr lang="en-US" sz="2000" dirty="0">
                <a:solidFill>
                  <a:srgbClr val="1F2937"/>
                </a:solidFill>
                <a:latin typeface="Calibri" pitchFamily="34" charset="0"/>
                <a:ea typeface="Calibri" pitchFamily="34" charset="-122"/>
                <a:cs typeface="Calibri" pitchFamily="34" charset="-120"/>
              </a:rPr>
              <a:t>USA/EU: Status quo – aber keine Anerkennung Taiwans</a:t>
            </a:r>
            <a:endParaRPr lang="en-US" sz="2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8  Welche Mittel werden eingesetzt?</a:t>
            </a:r>
            <a:endParaRPr lang="en-US" sz="3200" dirty="0"/>
          </a:p>
        </p:txBody>
      </p:sp>
      <p:sp>
        <p:nvSpPr>
          <p:cNvPr id="3" name="Shape 1"/>
          <p:cNvSpPr/>
          <p:nvPr/>
        </p:nvSpPr>
        <p:spPr>
          <a:xfrm>
            <a:off x="548640" y="1737360"/>
            <a:ext cx="1999427" cy="3657600"/>
          </a:xfrm>
          <a:prstGeom prst="roundRect">
            <a:avLst>
              <a:gd name="adj" fmla="val 5488"/>
            </a:avLst>
          </a:prstGeom>
          <a:solidFill>
            <a:srgbClr val="F1F3F6"/>
          </a:solidFill>
          <a:ln w="12700">
            <a:solidFill>
              <a:srgbClr val="F1F3F6"/>
            </a:solidFill>
            <a:prstDash val="solid"/>
          </a:ln>
        </p:spPr>
      </p:sp>
      <p:sp>
        <p:nvSpPr>
          <p:cNvPr id="4" name="Shape 2"/>
          <p:cNvSpPr/>
          <p:nvPr/>
        </p:nvSpPr>
        <p:spPr>
          <a:xfrm>
            <a:off x="1045434" y="2103120"/>
            <a:ext cx="1005840" cy="1005840"/>
          </a:xfrm>
          <a:prstGeom prst="ellipse">
            <a:avLst/>
          </a:prstGeom>
          <a:solidFill>
            <a:srgbClr val="C8102E"/>
          </a:solidFill>
          <a:ln w="12700">
            <a:solidFill>
              <a:srgbClr val="C8102E"/>
            </a:solidFill>
            <a:prstDash val="solid"/>
          </a:ln>
        </p:spPr>
      </p:sp>
      <p:pic>
        <p:nvPicPr>
          <p:cNvPr id="5" name="Image 0" descr="preencoded.png">    </p:cNvPr>
          <p:cNvPicPr>
            <a:picLocks noChangeAspect="1"/>
          </p:cNvPicPr>
          <p:nvPr/>
        </p:nvPicPr>
        <p:blipFill>
          <a:blip r:embed="rId1"/>
          <a:stretch>
            <a:fillRect/>
          </a:stretch>
        </p:blipFill>
        <p:spPr>
          <a:xfrm>
            <a:off x="1286835" y="2344522"/>
            <a:ext cx="523037" cy="523037"/>
          </a:xfrm>
          <a:prstGeom prst="rect">
            <a:avLst/>
          </a:prstGeom>
        </p:spPr>
      </p:pic>
      <p:sp>
        <p:nvSpPr>
          <p:cNvPr id="6" name="Text 3"/>
          <p:cNvSpPr txBox="1"/>
          <p:nvPr/>
        </p:nvSpPr>
        <p:spPr>
          <a:xfrm>
            <a:off x="685800" y="3383280"/>
            <a:ext cx="1725107" cy="41148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Militärisch</a:t>
            </a:r>
            <a:endParaRPr lang="en-US" sz="1900" dirty="0"/>
          </a:p>
        </p:txBody>
      </p:sp>
      <p:sp>
        <p:nvSpPr>
          <p:cNvPr id="7" name="Text 4"/>
          <p:cNvSpPr txBox="1"/>
          <p:nvPr/>
        </p:nvSpPr>
        <p:spPr>
          <a:xfrm>
            <a:off x="731520" y="3886200"/>
            <a:ext cx="1633667" cy="1645920"/>
          </a:xfrm>
          <a:prstGeom prst="rect">
            <a:avLst/>
          </a:prstGeom>
          <a:noFill/>
          <a:ln/>
        </p:spPr>
        <p:txBody>
          <a:bodyPr wrap="square" lIns="0" tIns="0" rIns="0" bIns="0" rtlCol="0" anchor="t"/>
          <a:lstStyle/>
          <a:p>
            <a:pPr algn="ctr" indent="0" marL="0">
              <a:buNone/>
            </a:pPr>
            <a:r>
              <a:rPr lang="en-US" sz="1600" dirty="0">
                <a:solidFill>
                  <a:srgbClr val="1F2937"/>
                </a:solidFill>
                <a:latin typeface="Calibri" pitchFamily="34" charset="0"/>
                <a:ea typeface="Calibri" pitchFamily="34" charset="-122"/>
                <a:cs typeface="Calibri" pitchFamily="34" charset="-120"/>
              </a:rPr>
              <a:t>Manöver, Patrouillen, Abschreckung</a:t>
            </a:r>
            <a:endParaRPr lang="en-US" sz="1600" dirty="0"/>
          </a:p>
        </p:txBody>
      </p:sp>
      <p:sp>
        <p:nvSpPr>
          <p:cNvPr id="8" name="Shape 5"/>
          <p:cNvSpPr/>
          <p:nvPr/>
        </p:nvSpPr>
        <p:spPr>
          <a:xfrm>
            <a:off x="2822387" y="1737360"/>
            <a:ext cx="1999427" cy="3657600"/>
          </a:xfrm>
          <a:prstGeom prst="roundRect">
            <a:avLst>
              <a:gd name="adj" fmla="val 5488"/>
            </a:avLst>
          </a:prstGeom>
          <a:solidFill>
            <a:srgbClr val="F1F3F6"/>
          </a:solidFill>
          <a:ln w="12700">
            <a:solidFill>
              <a:srgbClr val="F1F3F6"/>
            </a:solidFill>
            <a:prstDash val="solid"/>
          </a:ln>
        </p:spPr>
      </p:sp>
      <p:sp>
        <p:nvSpPr>
          <p:cNvPr id="9" name="Shape 6"/>
          <p:cNvSpPr/>
          <p:nvPr/>
        </p:nvSpPr>
        <p:spPr>
          <a:xfrm>
            <a:off x="3319181" y="2103120"/>
            <a:ext cx="1005840" cy="1005840"/>
          </a:xfrm>
          <a:prstGeom prst="ellipse">
            <a:avLst/>
          </a:prstGeom>
          <a:solidFill>
            <a:srgbClr val="14213D"/>
          </a:solidFill>
          <a:ln w="12700">
            <a:solidFill>
              <a:srgbClr val="14213D"/>
            </a:solidFill>
            <a:prstDash val="solid"/>
          </a:ln>
        </p:spPr>
      </p:sp>
      <p:pic>
        <p:nvPicPr>
          <p:cNvPr id="10" name="Image 1" descr="preencoded.png">    </p:cNvPr>
          <p:cNvPicPr>
            <a:picLocks noChangeAspect="1"/>
          </p:cNvPicPr>
          <p:nvPr/>
        </p:nvPicPr>
        <p:blipFill>
          <a:blip r:embed="rId2"/>
          <a:stretch>
            <a:fillRect/>
          </a:stretch>
        </p:blipFill>
        <p:spPr>
          <a:xfrm>
            <a:off x="3560582" y="2344522"/>
            <a:ext cx="523037" cy="523037"/>
          </a:xfrm>
          <a:prstGeom prst="rect">
            <a:avLst/>
          </a:prstGeom>
        </p:spPr>
      </p:pic>
      <p:sp>
        <p:nvSpPr>
          <p:cNvPr id="11" name="Text 7"/>
          <p:cNvSpPr txBox="1"/>
          <p:nvPr/>
        </p:nvSpPr>
        <p:spPr>
          <a:xfrm>
            <a:off x="2959547" y="3383280"/>
            <a:ext cx="1725107" cy="41148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Grauzone</a:t>
            </a:r>
            <a:endParaRPr lang="en-US" sz="1900" dirty="0"/>
          </a:p>
        </p:txBody>
      </p:sp>
      <p:sp>
        <p:nvSpPr>
          <p:cNvPr id="12" name="Text 8"/>
          <p:cNvSpPr txBox="1"/>
          <p:nvPr/>
        </p:nvSpPr>
        <p:spPr>
          <a:xfrm>
            <a:off x="3005267" y="3886200"/>
            <a:ext cx="1633667" cy="1645920"/>
          </a:xfrm>
          <a:prstGeom prst="rect">
            <a:avLst/>
          </a:prstGeom>
          <a:noFill/>
          <a:ln/>
        </p:spPr>
        <p:txBody>
          <a:bodyPr wrap="square" lIns="0" tIns="0" rIns="0" bIns="0" rtlCol="0" anchor="t"/>
          <a:lstStyle/>
          <a:p>
            <a:pPr algn="ctr" indent="0" marL="0">
              <a:buNone/>
            </a:pPr>
            <a:r>
              <a:rPr lang="en-US" sz="1600" dirty="0">
                <a:solidFill>
                  <a:srgbClr val="1F2937"/>
                </a:solidFill>
                <a:latin typeface="Calibri" pitchFamily="34" charset="0"/>
                <a:ea typeface="Calibri" pitchFamily="34" charset="-122"/>
                <a:cs typeface="Calibri" pitchFamily="34" charset="-120"/>
              </a:rPr>
              <a:t>Küstenwache, Desinformation, Cyberangriffe</a:t>
            </a:r>
            <a:endParaRPr lang="en-US" sz="1600" dirty="0"/>
          </a:p>
        </p:txBody>
      </p:sp>
      <p:sp>
        <p:nvSpPr>
          <p:cNvPr id="13" name="Shape 9"/>
          <p:cNvSpPr/>
          <p:nvPr/>
        </p:nvSpPr>
        <p:spPr>
          <a:xfrm>
            <a:off x="5096134" y="1737360"/>
            <a:ext cx="1999427" cy="3657600"/>
          </a:xfrm>
          <a:prstGeom prst="roundRect">
            <a:avLst>
              <a:gd name="adj" fmla="val 5488"/>
            </a:avLst>
          </a:prstGeom>
          <a:solidFill>
            <a:srgbClr val="F1F3F6"/>
          </a:solidFill>
          <a:ln w="12700">
            <a:solidFill>
              <a:srgbClr val="F1F3F6"/>
            </a:solidFill>
            <a:prstDash val="solid"/>
          </a:ln>
        </p:spPr>
      </p:sp>
      <p:sp>
        <p:nvSpPr>
          <p:cNvPr id="14" name="Shape 10"/>
          <p:cNvSpPr/>
          <p:nvPr/>
        </p:nvSpPr>
        <p:spPr>
          <a:xfrm>
            <a:off x="5592928" y="2103120"/>
            <a:ext cx="1005840" cy="1005840"/>
          </a:xfrm>
          <a:prstGeom prst="ellipse">
            <a:avLst/>
          </a:prstGeom>
          <a:solidFill>
            <a:srgbClr val="D9A21B"/>
          </a:solidFill>
          <a:ln w="12700">
            <a:solidFill>
              <a:srgbClr val="D9A21B"/>
            </a:solidFill>
            <a:prstDash val="solid"/>
          </a:ln>
        </p:spPr>
      </p:sp>
      <p:pic>
        <p:nvPicPr>
          <p:cNvPr id="15" name="Image 2" descr="preencoded.png">    </p:cNvPr>
          <p:cNvPicPr>
            <a:picLocks noChangeAspect="1"/>
          </p:cNvPicPr>
          <p:nvPr/>
        </p:nvPicPr>
        <p:blipFill>
          <a:blip r:embed="rId3"/>
          <a:stretch>
            <a:fillRect/>
          </a:stretch>
        </p:blipFill>
        <p:spPr>
          <a:xfrm>
            <a:off x="5834329" y="2344522"/>
            <a:ext cx="523037" cy="523037"/>
          </a:xfrm>
          <a:prstGeom prst="rect">
            <a:avLst/>
          </a:prstGeom>
        </p:spPr>
      </p:pic>
      <p:sp>
        <p:nvSpPr>
          <p:cNvPr id="16" name="Text 11"/>
          <p:cNvSpPr txBox="1"/>
          <p:nvPr/>
        </p:nvSpPr>
        <p:spPr>
          <a:xfrm>
            <a:off x="5233294" y="3383280"/>
            <a:ext cx="1725107" cy="41148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Wirtschaftlich</a:t>
            </a:r>
            <a:endParaRPr lang="en-US" sz="1900" dirty="0"/>
          </a:p>
        </p:txBody>
      </p:sp>
      <p:sp>
        <p:nvSpPr>
          <p:cNvPr id="17" name="Text 12"/>
          <p:cNvSpPr txBox="1"/>
          <p:nvPr/>
        </p:nvSpPr>
        <p:spPr>
          <a:xfrm>
            <a:off x="5279014" y="3886200"/>
            <a:ext cx="1633667" cy="1645920"/>
          </a:xfrm>
          <a:prstGeom prst="rect">
            <a:avLst/>
          </a:prstGeom>
          <a:noFill/>
          <a:ln/>
        </p:spPr>
        <p:txBody>
          <a:bodyPr wrap="square" lIns="0" tIns="0" rIns="0" bIns="0" rtlCol="0" anchor="t"/>
          <a:lstStyle/>
          <a:p>
            <a:pPr algn="ctr" indent="0" marL="0">
              <a:buNone/>
            </a:pPr>
            <a:r>
              <a:rPr lang="en-US" sz="1600" dirty="0">
                <a:solidFill>
                  <a:srgbClr val="1F2937"/>
                </a:solidFill>
                <a:latin typeface="Calibri" pitchFamily="34" charset="0"/>
                <a:ea typeface="Calibri" pitchFamily="34" charset="-122"/>
                <a:cs typeface="Calibri" pitchFamily="34" charset="-120"/>
              </a:rPr>
              <a:t>Zölle, Importstopps, Druck auf Lieferketten</a:t>
            </a:r>
            <a:endParaRPr lang="en-US" sz="1600" dirty="0"/>
          </a:p>
        </p:txBody>
      </p:sp>
      <p:sp>
        <p:nvSpPr>
          <p:cNvPr id="18" name="Shape 13"/>
          <p:cNvSpPr/>
          <p:nvPr/>
        </p:nvSpPr>
        <p:spPr>
          <a:xfrm>
            <a:off x="7369881" y="1737360"/>
            <a:ext cx="1999427" cy="3657600"/>
          </a:xfrm>
          <a:prstGeom prst="roundRect">
            <a:avLst>
              <a:gd name="adj" fmla="val 5488"/>
            </a:avLst>
          </a:prstGeom>
          <a:solidFill>
            <a:srgbClr val="F1F3F6"/>
          </a:solidFill>
          <a:ln w="12700">
            <a:solidFill>
              <a:srgbClr val="F1F3F6"/>
            </a:solidFill>
            <a:prstDash val="solid"/>
          </a:ln>
        </p:spPr>
      </p:sp>
      <p:sp>
        <p:nvSpPr>
          <p:cNvPr id="19" name="Shape 14"/>
          <p:cNvSpPr/>
          <p:nvPr/>
        </p:nvSpPr>
        <p:spPr>
          <a:xfrm>
            <a:off x="7866675" y="2103120"/>
            <a:ext cx="1005840" cy="1005840"/>
          </a:xfrm>
          <a:prstGeom prst="ellipse">
            <a:avLst/>
          </a:prstGeom>
          <a:solidFill>
            <a:srgbClr val="14213D"/>
          </a:solidFill>
          <a:ln w="12700">
            <a:solidFill>
              <a:srgbClr val="14213D"/>
            </a:solidFill>
            <a:prstDash val="solid"/>
          </a:ln>
        </p:spPr>
      </p:sp>
      <p:pic>
        <p:nvPicPr>
          <p:cNvPr id="20" name="Image 3" descr="preencoded.png">    </p:cNvPr>
          <p:cNvPicPr>
            <a:picLocks noChangeAspect="1"/>
          </p:cNvPicPr>
          <p:nvPr/>
        </p:nvPicPr>
        <p:blipFill>
          <a:blip r:embed="rId4"/>
          <a:stretch>
            <a:fillRect/>
          </a:stretch>
        </p:blipFill>
        <p:spPr>
          <a:xfrm>
            <a:off x="8108076" y="2344522"/>
            <a:ext cx="523037" cy="523037"/>
          </a:xfrm>
          <a:prstGeom prst="rect">
            <a:avLst/>
          </a:prstGeom>
        </p:spPr>
      </p:pic>
      <p:sp>
        <p:nvSpPr>
          <p:cNvPr id="21" name="Text 15"/>
          <p:cNvSpPr txBox="1"/>
          <p:nvPr/>
        </p:nvSpPr>
        <p:spPr>
          <a:xfrm>
            <a:off x="7507041" y="3383280"/>
            <a:ext cx="1725107" cy="41148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Diplomatisch</a:t>
            </a:r>
            <a:endParaRPr lang="en-US" sz="1900" dirty="0"/>
          </a:p>
        </p:txBody>
      </p:sp>
      <p:sp>
        <p:nvSpPr>
          <p:cNvPr id="22" name="Text 16"/>
          <p:cNvSpPr txBox="1"/>
          <p:nvPr/>
        </p:nvSpPr>
        <p:spPr>
          <a:xfrm>
            <a:off x="7552761" y="3886200"/>
            <a:ext cx="1633667" cy="1645920"/>
          </a:xfrm>
          <a:prstGeom prst="rect">
            <a:avLst/>
          </a:prstGeom>
          <a:noFill/>
          <a:ln/>
        </p:spPr>
        <p:txBody>
          <a:bodyPr wrap="square" lIns="0" tIns="0" rIns="0" bIns="0" rtlCol="0" anchor="t"/>
          <a:lstStyle/>
          <a:p>
            <a:pPr algn="ctr" indent="0" marL="0">
              <a:buNone/>
            </a:pPr>
            <a:r>
              <a:rPr lang="en-US" sz="1600" dirty="0">
                <a:solidFill>
                  <a:srgbClr val="1F2937"/>
                </a:solidFill>
                <a:latin typeface="Calibri" pitchFamily="34" charset="0"/>
                <a:ea typeface="Calibri" pitchFamily="34" charset="-122"/>
                <a:cs typeface="Calibri" pitchFamily="34" charset="-120"/>
              </a:rPr>
              <a:t>Taiwan international isolieren</a:t>
            </a:r>
            <a:endParaRPr lang="en-US" sz="1600" dirty="0"/>
          </a:p>
        </p:txBody>
      </p:sp>
      <p:sp>
        <p:nvSpPr>
          <p:cNvPr id="23" name="Shape 17"/>
          <p:cNvSpPr/>
          <p:nvPr/>
        </p:nvSpPr>
        <p:spPr>
          <a:xfrm>
            <a:off x="9643628" y="1737360"/>
            <a:ext cx="1999427" cy="3657600"/>
          </a:xfrm>
          <a:prstGeom prst="roundRect">
            <a:avLst>
              <a:gd name="adj" fmla="val 5488"/>
            </a:avLst>
          </a:prstGeom>
          <a:solidFill>
            <a:srgbClr val="F1F3F6"/>
          </a:solidFill>
          <a:ln w="12700">
            <a:solidFill>
              <a:srgbClr val="F1F3F6"/>
            </a:solidFill>
            <a:prstDash val="solid"/>
          </a:ln>
        </p:spPr>
      </p:sp>
      <p:sp>
        <p:nvSpPr>
          <p:cNvPr id="24" name="Shape 18"/>
          <p:cNvSpPr/>
          <p:nvPr/>
        </p:nvSpPr>
        <p:spPr>
          <a:xfrm>
            <a:off x="10140422" y="2103120"/>
            <a:ext cx="1005840" cy="1005840"/>
          </a:xfrm>
          <a:prstGeom prst="ellipse">
            <a:avLst/>
          </a:prstGeom>
          <a:solidFill>
            <a:srgbClr val="2F6B4F"/>
          </a:solidFill>
          <a:ln w="12700">
            <a:solidFill>
              <a:srgbClr val="2F6B4F"/>
            </a:solidFill>
            <a:prstDash val="solid"/>
          </a:ln>
        </p:spPr>
      </p:sp>
      <p:pic>
        <p:nvPicPr>
          <p:cNvPr id="25" name="Image 4" descr="preencoded.png">    </p:cNvPr>
          <p:cNvPicPr>
            <a:picLocks noChangeAspect="1"/>
          </p:cNvPicPr>
          <p:nvPr/>
        </p:nvPicPr>
        <p:blipFill>
          <a:blip r:embed="rId5"/>
          <a:stretch>
            <a:fillRect/>
          </a:stretch>
        </p:blipFill>
        <p:spPr>
          <a:xfrm>
            <a:off x="10381823" y="2344522"/>
            <a:ext cx="523037" cy="523037"/>
          </a:xfrm>
          <a:prstGeom prst="rect">
            <a:avLst/>
          </a:prstGeom>
        </p:spPr>
      </p:pic>
      <p:sp>
        <p:nvSpPr>
          <p:cNvPr id="26" name="Text 19"/>
          <p:cNvSpPr txBox="1"/>
          <p:nvPr/>
        </p:nvSpPr>
        <p:spPr>
          <a:xfrm>
            <a:off x="9780788" y="3383280"/>
            <a:ext cx="1725107" cy="41148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Unterstützung</a:t>
            </a:r>
            <a:endParaRPr lang="en-US" sz="1900" dirty="0"/>
          </a:p>
        </p:txBody>
      </p:sp>
      <p:sp>
        <p:nvSpPr>
          <p:cNvPr id="27" name="Text 20"/>
          <p:cNvSpPr txBox="1"/>
          <p:nvPr/>
        </p:nvSpPr>
        <p:spPr>
          <a:xfrm>
            <a:off x="9826508" y="3886200"/>
            <a:ext cx="1633667" cy="1645920"/>
          </a:xfrm>
          <a:prstGeom prst="rect">
            <a:avLst/>
          </a:prstGeom>
          <a:noFill/>
          <a:ln/>
        </p:spPr>
        <p:txBody>
          <a:bodyPr wrap="square" lIns="0" tIns="0" rIns="0" bIns="0" rtlCol="0" anchor="t"/>
          <a:lstStyle/>
          <a:p>
            <a:pPr algn="ctr" indent="0" marL="0">
              <a:buNone/>
            </a:pPr>
            <a:r>
              <a:rPr lang="en-US" sz="1600" dirty="0">
                <a:solidFill>
                  <a:srgbClr val="1F2937"/>
                </a:solidFill>
                <a:latin typeface="Calibri" pitchFamily="34" charset="0"/>
                <a:ea typeface="Calibri" pitchFamily="34" charset="-122"/>
                <a:cs typeface="Calibri" pitchFamily="34" charset="-120"/>
              </a:rPr>
              <a:t>USA liefern Waffen; EU pflegt Beziehungen</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9  Welche Folgen hat der Konflikt?</a:t>
            </a:r>
            <a:endParaRPr lang="en-US" sz="3200" dirty="0"/>
          </a:p>
        </p:txBody>
      </p:sp>
      <p:sp>
        <p:nvSpPr>
          <p:cNvPr id="3" name="Shape 1"/>
          <p:cNvSpPr/>
          <p:nvPr/>
        </p:nvSpPr>
        <p:spPr>
          <a:xfrm>
            <a:off x="548640" y="1417320"/>
            <a:ext cx="3454298" cy="4846320"/>
          </a:xfrm>
          <a:prstGeom prst="roundRect">
            <a:avLst>
              <a:gd name="adj" fmla="val 3177"/>
            </a:avLst>
          </a:prstGeom>
          <a:solidFill>
            <a:srgbClr val="F1F3F6"/>
          </a:solidFill>
          <a:ln w="12700">
            <a:solidFill>
              <a:srgbClr val="F1F3F6"/>
            </a:solidFill>
            <a:prstDash val="solid"/>
          </a:ln>
        </p:spPr>
      </p:sp>
      <p:pic>
        <p:nvPicPr>
          <p:cNvPr id="4" name="Image 0" descr="crop/taipei_sky.jpg">    </p:cNvPr>
          <p:cNvPicPr>
            <a:picLocks noChangeAspect="1"/>
          </p:cNvPicPr>
          <p:nvPr/>
        </p:nvPicPr>
        <p:blipFill>
          <a:blip r:embed="rId1"/>
          <a:stretch>
            <a:fillRect/>
          </a:stretch>
        </p:blipFill>
        <p:spPr>
          <a:xfrm>
            <a:off x="548640" y="1417320"/>
            <a:ext cx="3454298" cy="1682863"/>
          </a:xfrm>
          <a:prstGeom prst="rect">
            <a:avLst/>
          </a:prstGeom>
        </p:spPr>
      </p:pic>
      <p:sp>
        <p:nvSpPr>
          <p:cNvPr id="5" name="Text 2"/>
          <p:cNvSpPr txBox="1"/>
          <p:nvPr/>
        </p:nvSpPr>
        <p:spPr>
          <a:xfrm>
            <a:off x="640080" y="3145903"/>
            <a:ext cx="3271418"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Foto: 毛貓大少爺, CC BY-SA 2.0</a:t>
            </a:r>
            <a:endParaRPr lang="en-US" sz="900" dirty="0"/>
          </a:p>
        </p:txBody>
      </p:sp>
      <p:sp>
        <p:nvSpPr>
          <p:cNvPr id="6" name="Text 3"/>
          <p:cNvSpPr txBox="1"/>
          <p:nvPr/>
        </p:nvSpPr>
        <p:spPr>
          <a:xfrm>
            <a:off x="822960" y="3657600"/>
            <a:ext cx="2905658" cy="41148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Für Taiwan</a:t>
            </a:r>
            <a:endParaRPr lang="en-US" sz="2000" dirty="0"/>
          </a:p>
        </p:txBody>
      </p:sp>
      <p:sp>
        <p:nvSpPr>
          <p:cNvPr id="7" name="Text 4"/>
          <p:cNvSpPr txBox="1"/>
          <p:nvPr/>
        </p:nvSpPr>
        <p:spPr>
          <a:xfrm>
            <a:off x="822960" y="4206240"/>
            <a:ext cx="2905658" cy="1828800"/>
          </a:xfrm>
          <a:prstGeom prst="rect">
            <a:avLst/>
          </a:prstGeom>
          <a:noFill/>
          <a:ln/>
        </p:spPr>
        <p:txBody>
          <a:bodyPr wrap="square" lIns="0" tIns="0" rIns="0" bIns="0" rtlCol="0" anchor="t"/>
          <a:lstStyle/>
          <a:p>
            <a:pPr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hohe Verteidigungsausgaben</a:t>
            </a:r>
            <a:endParaRPr lang="en-US" sz="1700" dirty="0"/>
          </a:p>
          <a:p>
            <a:pPr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dauerhafte Unsicherheit</a:t>
            </a:r>
            <a:endParaRPr lang="en-US" sz="1700" dirty="0"/>
          </a:p>
        </p:txBody>
      </p:sp>
      <p:sp>
        <p:nvSpPr>
          <p:cNvPr id="8" name="Shape 5"/>
          <p:cNvSpPr/>
          <p:nvPr/>
        </p:nvSpPr>
        <p:spPr>
          <a:xfrm>
            <a:off x="4368698" y="1417320"/>
            <a:ext cx="3454298" cy="4846320"/>
          </a:xfrm>
          <a:prstGeom prst="roundRect">
            <a:avLst>
              <a:gd name="adj" fmla="val 3177"/>
            </a:avLst>
          </a:prstGeom>
          <a:solidFill>
            <a:srgbClr val="F1F3F6"/>
          </a:solidFill>
          <a:ln w="12700">
            <a:solidFill>
              <a:srgbClr val="F1F3F6"/>
            </a:solidFill>
            <a:prstDash val="solid"/>
          </a:ln>
        </p:spPr>
      </p:sp>
      <p:pic>
        <p:nvPicPr>
          <p:cNvPr id="9" name="Image 1" descr="crop/tiananmen.jpg">    </p:cNvPr>
          <p:cNvPicPr>
            <a:picLocks noChangeAspect="1"/>
          </p:cNvPicPr>
          <p:nvPr/>
        </p:nvPicPr>
        <p:blipFill>
          <a:blip r:embed="rId2"/>
          <a:stretch>
            <a:fillRect/>
          </a:stretch>
        </p:blipFill>
        <p:spPr>
          <a:xfrm>
            <a:off x="4368698" y="1417320"/>
            <a:ext cx="3454298" cy="1682863"/>
          </a:xfrm>
          <a:prstGeom prst="rect">
            <a:avLst/>
          </a:prstGeom>
        </p:spPr>
      </p:pic>
      <p:sp>
        <p:nvSpPr>
          <p:cNvPr id="10" name="Text 6"/>
          <p:cNvSpPr txBox="1"/>
          <p:nvPr/>
        </p:nvSpPr>
        <p:spPr>
          <a:xfrm>
            <a:off x="4460138" y="3145903"/>
            <a:ext cx="3271418"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Foto: Derzsi Elekes Andor, CC BY-SA 3.0</a:t>
            </a:r>
            <a:endParaRPr lang="en-US" sz="900" dirty="0"/>
          </a:p>
        </p:txBody>
      </p:sp>
      <p:sp>
        <p:nvSpPr>
          <p:cNvPr id="11" name="Text 7"/>
          <p:cNvSpPr txBox="1"/>
          <p:nvPr/>
        </p:nvSpPr>
        <p:spPr>
          <a:xfrm>
            <a:off x="4643018" y="3657600"/>
            <a:ext cx="2905658" cy="41148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Für China</a:t>
            </a:r>
            <a:endParaRPr lang="en-US" sz="2000" dirty="0"/>
          </a:p>
        </p:txBody>
      </p:sp>
      <p:sp>
        <p:nvSpPr>
          <p:cNvPr id="12" name="Text 8"/>
          <p:cNvSpPr txBox="1"/>
          <p:nvPr/>
        </p:nvSpPr>
        <p:spPr>
          <a:xfrm>
            <a:off x="4643018" y="4206240"/>
            <a:ext cx="2905658" cy="1828800"/>
          </a:xfrm>
          <a:prstGeom prst="rect">
            <a:avLst/>
          </a:prstGeom>
          <a:noFill/>
          <a:ln/>
        </p:spPr>
        <p:txBody>
          <a:bodyPr wrap="square" lIns="0" tIns="0" rIns="0" bIns="0" rtlCol="0" anchor="t"/>
          <a:lstStyle/>
          <a:p>
            <a:pPr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hohe Militärkosten</a:t>
            </a:r>
            <a:endParaRPr lang="en-US" sz="1700" dirty="0"/>
          </a:p>
          <a:p>
            <a:pPr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Risiko von Sanktionen</a:t>
            </a:r>
            <a:endParaRPr lang="en-US" sz="1700" dirty="0"/>
          </a:p>
        </p:txBody>
      </p:sp>
      <p:sp>
        <p:nvSpPr>
          <p:cNvPr id="13" name="Shape 9"/>
          <p:cNvSpPr/>
          <p:nvPr/>
        </p:nvSpPr>
        <p:spPr>
          <a:xfrm>
            <a:off x="8188757" y="1417320"/>
            <a:ext cx="3454298" cy="4846320"/>
          </a:xfrm>
          <a:prstGeom prst="roundRect">
            <a:avLst>
              <a:gd name="adj" fmla="val 3177"/>
            </a:avLst>
          </a:prstGeom>
          <a:solidFill>
            <a:srgbClr val="F1F3F6"/>
          </a:solidFill>
          <a:ln w="12700">
            <a:solidFill>
              <a:srgbClr val="F1F3F6"/>
            </a:solidFill>
            <a:prstDash val="solid"/>
          </a:ln>
        </p:spPr>
      </p:sp>
      <p:pic>
        <p:nvPicPr>
          <p:cNvPr id="14" name="Image 2" descr="crop/ship.jpg">    </p:cNvPr>
          <p:cNvPicPr>
            <a:picLocks noChangeAspect="1"/>
          </p:cNvPicPr>
          <p:nvPr/>
        </p:nvPicPr>
        <p:blipFill>
          <a:blip r:embed="rId3"/>
          <a:stretch>
            <a:fillRect/>
          </a:stretch>
        </p:blipFill>
        <p:spPr>
          <a:xfrm>
            <a:off x="8188757" y="1417320"/>
            <a:ext cx="3454298" cy="1682863"/>
          </a:xfrm>
          <a:prstGeom prst="rect">
            <a:avLst/>
          </a:prstGeom>
        </p:spPr>
      </p:pic>
      <p:sp>
        <p:nvSpPr>
          <p:cNvPr id="15" name="Text 10"/>
          <p:cNvSpPr txBox="1"/>
          <p:nvPr/>
        </p:nvSpPr>
        <p:spPr>
          <a:xfrm>
            <a:off x="8280197" y="3145903"/>
            <a:ext cx="3271418" cy="228600"/>
          </a:xfrm>
          <a:prstGeom prst="rect">
            <a:avLst/>
          </a:prstGeom>
          <a:noFill/>
          <a:ln/>
        </p:spPr>
        <p:txBody>
          <a:bodyPr wrap="square" lIns="0" tIns="0" rIns="0" bIns="0" rtlCol="0" anchor="t"/>
          <a:lstStyle/>
          <a:p>
            <a:pPr algn="l" indent="0" marL="0">
              <a:buNone/>
            </a:pPr>
            <a:r>
              <a:rPr lang="en-US" sz="900" i="1" dirty="0">
                <a:solidFill>
                  <a:srgbClr val="5B6472"/>
                </a:solidFill>
                <a:latin typeface="Calibri" pitchFamily="34" charset="0"/>
                <a:ea typeface="Calibri" pitchFamily="34" charset="-122"/>
                <a:cs typeface="Calibri" pitchFamily="34" charset="-120"/>
              </a:rPr>
              <a:t>Foto: Biopics, Wikimedia Commons</a:t>
            </a:r>
            <a:endParaRPr lang="en-US" sz="900" dirty="0"/>
          </a:p>
        </p:txBody>
      </p:sp>
      <p:sp>
        <p:nvSpPr>
          <p:cNvPr id="16" name="Text 11"/>
          <p:cNvSpPr txBox="1"/>
          <p:nvPr/>
        </p:nvSpPr>
        <p:spPr>
          <a:xfrm>
            <a:off x="8463077" y="3657600"/>
            <a:ext cx="2905658" cy="411480"/>
          </a:xfrm>
          <a:prstGeom prst="rect">
            <a:avLst/>
          </a:prstGeom>
          <a:noFill/>
          <a:ln/>
        </p:spPr>
        <p:txBody>
          <a:bodyPr wrap="square" lIns="0" tIns="0" rIns="0" bIns="0" rtlCol="0" anchor="t"/>
          <a:lstStyle/>
          <a:p>
            <a:pPr indent="0" marL="0">
              <a:buNone/>
            </a:pPr>
            <a:r>
              <a:rPr lang="en-US" sz="2000" b="1" dirty="0">
                <a:solidFill>
                  <a:srgbClr val="14213D"/>
                </a:solidFill>
                <a:latin typeface="Calibri" pitchFamily="34" charset="0"/>
                <a:ea typeface="Calibri" pitchFamily="34" charset="-122"/>
                <a:cs typeface="Calibri" pitchFamily="34" charset="-120"/>
              </a:rPr>
              <a:t>Für die Welt</a:t>
            </a:r>
            <a:endParaRPr lang="en-US" sz="2000" dirty="0"/>
          </a:p>
        </p:txBody>
      </p:sp>
      <p:sp>
        <p:nvSpPr>
          <p:cNvPr id="17" name="Text 12"/>
          <p:cNvSpPr txBox="1"/>
          <p:nvPr/>
        </p:nvSpPr>
        <p:spPr>
          <a:xfrm>
            <a:off x="8463077" y="4206240"/>
            <a:ext cx="2905658" cy="1828800"/>
          </a:xfrm>
          <a:prstGeom prst="rect">
            <a:avLst/>
          </a:prstGeom>
          <a:noFill/>
          <a:ln/>
        </p:spPr>
        <p:txBody>
          <a:bodyPr wrap="square" lIns="0" tIns="0" rIns="0" bIns="0" rtlCol="0" anchor="t"/>
          <a:lstStyle/>
          <a:p>
            <a:pPr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Gefahr für Handel und Chips</a:t>
            </a:r>
            <a:endParaRPr lang="en-US" sz="1700" dirty="0"/>
          </a:p>
          <a:p>
            <a:pPr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Folgen auch für Deutschland</a:t>
            </a:r>
            <a:endParaRPr lang="en-US" sz="17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10  Welche Lösungswege gibt es?</a:t>
            </a:r>
            <a:endParaRPr lang="en-US" sz="3200" dirty="0"/>
          </a:p>
        </p:txBody>
      </p:sp>
      <p:sp>
        <p:nvSpPr>
          <p:cNvPr id="3" name="Shape 1"/>
          <p:cNvSpPr/>
          <p:nvPr/>
        </p:nvSpPr>
        <p:spPr>
          <a:xfrm>
            <a:off x="548640" y="1417320"/>
            <a:ext cx="777240" cy="777240"/>
          </a:xfrm>
          <a:prstGeom prst="roundRect">
            <a:avLst>
              <a:gd name="adj" fmla="val 11765"/>
            </a:avLst>
          </a:prstGeom>
          <a:solidFill>
            <a:srgbClr val="C8102E"/>
          </a:solidFill>
          <a:ln w="12700">
            <a:solidFill>
              <a:srgbClr val="C8102E"/>
            </a:solidFill>
            <a:prstDash val="solid"/>
          </a:ln>
        </p:spPr>
      </p:sp>
      <p:sp>
        <p:nvSpPr>
          <p:cNvPr id="4" name="Text 2"/>
          <p:cNvSpPr txBox="1"/>
          <p:nvPr/>
        </p:nvSpPr>
        <p:spPr>
          <a:xfrm>
            <a:off x="548640" y="141732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a:t>
            </a:r>
            <a:endParaRPr lang="en-US" sz="2800" dirty="0"/>
          </a:p>
        </p:txBody>
      </p:sp>
      <p:sp>
        <p:nvSpPr>
          <p:cNvPr id="5" name="Text 3"/>
          <p:cNvSpPr txBox="1"/>
          <p:nvPr/>
        </p:nvSpPr>
        <p:spPr>
          <a:xfrm>
            <a:off x="1600200" y="1417320"/>
            <a:ext cx="3291840" cy="77724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Status quo sichern</a:t>
            </a:r>
            <a:endParaRPr lang="en-US" sz="2000" dirty="0"/>
          </a:p>
        </p:txBody>
      </p:sp>
      <p:sp>
        <p:nvSpPr>
          <p:cNvPr id="6" name="Text 4"/>
          <p:cNvSpPr txBox="1"/>
          <p:nvPr/>
        </p:nvSpPr>
        <p:spPr>
          <a:xfrm>
            <a:off x="4937760" y="1417320"/>
            <a:ext cx="6675120" cy="77724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keine Unabhängigkeit, keine Gewalt</a:t>
            </a:r>
            <a:endParaRPr lang="en-US" sz="1800" dirty="0"/>
          </a:p>
        </p:txBody>
      </p:sp>
      <p:sp>
        <p:nvSpPr>
          <p:cNvPr id="7" name="Shape 5"/>
          <p:cNvSpPr/>
          <p:nvPr/>
        </p:nvSpPr>
        <p:spPr>
          <a:xfrm>
            <a:off x="548640" y="2368296"/>
            <a:ext cx="777240" cy="777240"/>
          </a:xfrm>
          <a:prstGeom prst="roundRect">
            <a:avLst>
              <a:gd name="adj" fmla="val 11765"/>
            </a:avLst>
          </a:prstGeom>
          <a:solidFill>
            <a:srgbClr val="14213D"/>
          </a:solidFill>
          <a:ln w="12700">
            <a:solidFill>
              <a:srgbClr val="14213D"/>
            </a:solidFill>
            <a:prstDash val="solid"/>
          </a:ln>
        </p:spPr>
      </p:sp>
      <p:sp>
        <p:nvSpPr>
          <p:cNvPr id="8" name="Text 6"/>
          <p:cNvSpPr txBox="1"/>
          <p:nvPr/>
        </p:nvSpPr>
        <p:spPr>
          <a:xfrm>
            <a:off x="548640" y="2368296"/>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B</a:t>
            </a:r>
            <a:endParaRPr lang="en-US" sz="2800" dirty="0"/>
          </a:p>
        </p:txBody>
      </p:sp>
      <p:sp>
        <p:nvSpPr>
          <p:cNvPr id="9" name="Text 7"/>
          <p:cNvSpPr txBox="1"/>
          <p:nvPr/>
        </p:nvSpPr>
        <p:spPr>
          <a:xfrm>
            <a:off x="1600200" y="2368296"/>
            <a:ext cx="3291840" cy="77724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Verhandeln</a:t>
            </a:r>
            <a:endParaRPr lang="en-US" sz="2000" dirty="0"/>
          </a:p>
        </p:txBody>
      </p:sp>
      <p:sp>
        <p:nvSpPr>
          <p:cNvPr id="10" name="Text 8"/>
          <p:cNvSpPr txBox="1"/>
          <p:nvPr/>
        </p:nvSpPr>
        <p:spPr>
          <a:xfrm>
            <a:off x="4937760" y="2368296"/>
            <a:ext cx="6675120" cy="77724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direkter Dialog Peking – Taipeh</a:t>
            </a:r>
            <a:endParaRPr lang="en-US" sz="1800" dirty="0"/>
          </a:p>
        </p:txBody>
      </p:sp>
      <p:sp>
        <p:nvSpPr>
          <p:cNvPr id="11" name="Shape 9"/>
          <p:cNvSpPr/>
          <p:nvPr/>
        </p:nvSpPr>
        <p:spPr>
          <a:xfrm>
            <a:off x="548640" y="3319272"/>
            <a:ext cx="777240" cy="777240"/>
          </a:xfrm>
          <a:prstGeom prst="roundRect">
            <a:avLst>
              <a:gd name="adj" fmla="val 11765"/>
            </a:avLst>
          </a:prstGeom>
          <a:solidFill>
            <a:srgbClr val="14213D"/>
          </a:solidFill>
          <a:ln w="12700">
            <a:solidFill>
              <a:srgbClr val="14213D"/>
            </a:solidFill>
            <a:prstDash val="solid"/>
          </a:ln>
        </p:spPr>
      </p:sp>
      <p:sp>
        <p:nvSpPr>
          <p:cNvPr id="12" name="Text 10"/>
          <p:cNvSpPr txBox="1"/>
          <p:nvPr/>
        </p:nvSpPr>
        <p:spPr>
          <a:xfrm>
            <a:off x="548640" y="3319272"/>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C</a:t>
            </a:r>
            <a:endParaRPr lang="en-US" sz="2800" dirty="0"/>
          </a:p>
        </p:txBody>
      </p:sp>
      <p:sp>
        <p:nvSpPr>
          <p:cNvPr id="13" name="Text 11"/>
          <p:cNvSpPr txBox="1"/>
          <p:nvPr/>
        </p:nvSpPr>
        <p:spPr>
          <a:xfrm>
            <a:off x="1600200" y="3319272"/>
            <a:ext cx="3291840" cy="77724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Vertrauen bilden</a:t>
            </a:r>
            <a:endParaRPr lang="en-US" sz="2000" dirty="0"/>
          </a:p>
        </p:txBody>
      </p:sp>
      <p:sp>
        <p:nvSpPr>
          <p:cNvPr id="14" name="Text 12"/>
          <p:cNvSpPr txBox="1"/>
          <p:nvPr/>
        </p:nvSpPr>
        <p:spPr>
          <a:xfrm>
            <a:off x="4937760" y="3319272"/>
            <a:ext cx="6675120" cy="77724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Hotlines, Manöver ankündigen</a:t>
            </a:r>
            <a:endParaRPr lang="en-US" sz="1800" dirty="0"/>
          </a:p>
        </p:txBody>
      </p:sp>
      <p:sp>
        <p:nvSpPr>
          <p:cNvPr id="15" name="Shape 13"/>
          <p:cNvSpPr/>
          <p:nvPr/>
        </p:nvSpPr>
        <p:spPr>
          <a:xfrm>
            <a:off x="548640" y="4270248"/>
            <a:ext cx="777240" cy="777240"/>
          </a:xfrm>
          <a:prstGeom prst="roundRect">
            <a:avLst>
              <a:gd name="adj" fmla="val 11765"/>
            </a:avLst>
          </a:prstGeom>
          <a:solidFill>
            <a:srgbClr val="14213D"/>
          </a:solidFill>
          <a:ln w="12700">
            <a:solidFill>
              <a:srgbClr val="14213D"/>
            </a:solidFill>
            <a:prstDash val="solid"/>
          </a:ln>
        </p:spPr>
      </p:sp>
      <p:sp>
        <p:nvSpPr>
          <p:cNvPr id="16" name="Text 14"/>
          <p:cNvSpPr txBox="1"/>
          <p:nvPr/>
        </p:nvSpPr>
        <p:spPr>
          <a:xfrm>
            <a:off x="548640" y="4270248"/>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D</a:t>
            </a:r>
            <a:endParaRPr lang="en-US" sz="2800" dirty="0"/>
          </a:p>
        </p:txBody>
      </p:sp>
      <p:sp>
        <p:nvSpPr>
          <p:cNvPr id="17" name="Text 15"/>
          <p:cNvSpPr txBox="1"/>
          <p:nvPr/>
        </p:nvSpPr>
        <p:spPr>
          <a:xfrm>
            <a:off x="1600200" y="4270248"/>
            <a:ext cx="3291840" cy="77724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Diplomatie</a:t>
            </a:r>
            <a:endParaRPr lang="en-US" sz="2000" dirty="0"/>
          </a:p>
        </p:txBody>
      </p:sp>
      <p:sp>
        <p:nvSpPr>
          <p:cNvPr id="18" name="Text 16"/>
          <p:cNvSpPr txBox="1"/>
          <p:nvPr/>
        </p:nvSpPr>
        <p:spPr>
          <a:xfrm>
            <a:off x="4937760" y="4270248"/>
            <a:ext cx="6675120" cy="77724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gemeinsame Signale von USA, EU, Japan</a:t>
            </a:r>
            <a:endParaRPr lang="en-US" sz="1800" dirty="0"/>
          </a:p>
        </p:txBody>
      </p:sp>
      <p:sp>
        <p:nvSpPr>
          <p:cNvPr id="19" name="Shape 17"/>
          <p:cNvSpPr/>
          <p:nvPr/>
        </p:nvSpPr>
        <p:spPr>
          <a:xfrm>
            <a:off x="548640" y="5221224"/>
            <a:ext cx="777240" cy="777240"/>
          </a:xfrm>
          <a:prstGeom prst="roundRect">
            <a:avLst>
              <a:gd name="adj" fmla="val 11765"/>
            </a:avLst>
          </a:prstGeom>
          <a:solidFill>
            <a:srgbClr val="14213D"/>
          </a:solidFill>
          <a:ln w="12700">
            <a:solidFill>
              <a:srgbClr val="14213D"/>
            </a:solidFill>
            <a:prstDash val="solid"/>
          </a:ln>
        </p:spPr>
      </p:sp>
      <p:sp>
        <p:nvSpPr>
          <p:cNvPr id="20" name="Text 18"/>
          <p:cNvSpPr txBox="1"/>
          <p:nvPr/>
        </p:nvSpPr>
        <p:spPr>
          <a:xfrm>
            <a:off x="548640" y="5221224"/>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E</a:t>
            </a:r>
            <a:endParaRPr lang="en-US" sz="2800" dirty="0"/>
          </a:p>
        </p:txBody>
      </p:sp>
      <p:sp>
        <p:nvSpPr>
          <p:cNvPr id="21" name="Text 19"/>
          <p:cNvSpPr txBox="1"/>
          <p:nvPr/>
        </p:nvSpPr>
        <p:spPr>
          <a:xfrm>
            <a:off x="1600200" y="5221224"/>
            <a:ext cx="3291840" cy="77724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Politische Lösung</a:t>
            </a:r>
            <a:endParaRPr lang="en-US" sz="2000" dirty="0"/>
          </a:p>
        </p:txBody>
      </p:sp>
      <p:sp>
        <p:nvSpPr>
          <p:cNvPr id="22" name="Text 20"/>
          <p:cNvSpPr txBox="1"/>
          <p:nvPr/>
        </p:nvSpPr>
        <p:spPr>
          <a:xfrm>
            <a:off x="4937760" y="5221224"/>
            <a:ext cx="6675120" cy="77724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nur mit Zustimmung der Betroffenen</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11  Warum ist eine Lösung bisher gescheitert?</a:t>
            </a:r>
            <a:endParaRPr lang="en-US" sz="3200" dirty="0"/>
          </a:p>
        </p:txBody>
      </p:sp>
      <p:sp>
        <p:nvSpPr>
          <p:cNvPr id="3" name="Text 1"/>
          <p:cNvSpPr txBox="1"/>
          <p:nvPr/>
        </p:nvSpPr>
        <p:spPr>
          <a:xfrm>
            <a:off x="548640" y="1600200"/>
            <a:ext cx="109728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01</a:t>
            </a:r>
            <a:endParaRPr lang="en-US" sz="4000" dirty="0"/>
          </a:p>
        </p:txBody>
      </p:sp>
      <p:sp>
        <p:nvSpPr>
          <p:cNvPr id="4" name="Text 2"/>
          <p:cNvSpPr txBox="1"/>
          <p:nvPr/>
        </p:nvSpPr>
        <p:spPr>
          <a:xfrm>
            <a:off x="548640" y="2423160"/>
            <a:ext cx="327141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Unvereinbare Ziele</a:t>
            </a:r>
            <a:endParaRPr lang="en-US" sz="2000" dirty="0"/>
          </a:p>
        </p:txBody>
      </p:sp>
      <p:sp>
        <p:nvSpPr>
          <p:cNvPr id="5" name="Text 3"/>
          <p:cNvSpPr txBox="1"/>
          <p:nvPr/>
        </p:nvSpPr>
        <p:spPr>
          <a:xfrm>
            <a:off x="548640" y="2880360"/>
            <a:ext cx="3271418" cy="640080"/>
          </a:xfrm>
          <a:prstGeom prst="rect">
            <a:avLst/>
          </a:prstGeom>
          <a:noFill/>
          <a:ln/>
        </p:spPr>
        <p:txBody>
          <a:bodyPr wrap="square" lIns="0" tIns="0" rIns="0" bIns="0" rtlCol="0" anchor="t"/>
          <a:lstStyle/>
          <a:p>
            <a:pPr indent="0" marL="0">
              <a:buNone/>
            </a:pPr>
            <a:r>
              <a:rPr lang="en-US" sz="1700" dirty="0">
                <a:solidFill>
                  <a:srgbClr val="C9D1DE"/>
                </a:solidFill>
                <a:latin typeface="Calibri" pitchFamily="34" charset="0"/>
                <a:ea typeface="Calibri" pitchFamily="34" charset="-122"/>
                <a:cs typeface="Calibri" pitchFamily="34" charset="-120"/>
              </a:rPr>
              <a:t>Einheit vs. Selbstbestimmung</a:t>
            </a:r>
            <a:endParaRPr lang="en-US" sz="1700" dirty="0"/>
          </a:p>
        </p:txBody>
      </p:sp>
      <p:sp>
        <p:nvSpPr>
          <p:cNvPr id="6" name="Text 4"/>
          <p:cNvSpPr txBox="1"/>
          <p:nvPr/>
        </p:nvSpPr>
        <p:spPr>
          <a:xfrm>
            <a:off x="4368698" y="1600200"/>
            <a:ext cx="109728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02</a:t>
            </a:r>
            <a:endParaRPr lang="en-US" sz="4000" dirty="0"/>
          </a:p>
        </p:txBody>
      </p:sp>
      <p:sp>
        <p:nvSpPr>
          <p:cNvPr id="7" name="Text 5"/>
          <p:cNvSpPr txBox="1"/>
          <p:nvPr/>
        </p:nvSpPr>
        <p:spPr>
          <a:xfrm>
            <a:off x="4368698" y="2423160"/>
            <a:ext cx="327141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Kein gemeinsames „Ein China“</a:t>
            </a:r>
            <a:endParaRPr lang="en-US" sz="2000" dirty="0"/>
          </a:p>
        </p:txBody>
      </p:sp>
      <p:sp>
        <p:nvSpPr>
          <p:cNvPr id="8" name="Text 6"/>
          <p:cNvSpPr txBox="1"/>
          <p:nvPr/>
        </p:nvSpPr>
        <p:spPr>
          <a:xfrm>
            <a:off x="4368698" y="2880360"/>
            <a:ext cx="3271418" cy="640080"/>
          </a:xfrm>
          <a:prstGeom prst="rect">
            <a:avLst/>
          </a:prstGeom>
          <a:noFill/>
          <a:ln/>
        </p:spPr>
        <p:txBody>
          <a:bodyPr wrap="square" lIns="0" tIns="0" rIns="0" bIns="0" rtlCol="0" anchor="t"/>
          <a:lstStyle/>
          <a:p>
            <a:pPr indent="0" marL="0">
              <a:buNone/>
            </a:pPr>
            <a:r>
              <a:rPr lang="en-US" sz="1700" dirty="0">
                <a:solidFill>
                  <a:srgbClr val="C9D1DE"/>
                </a:solidFill>
                <a:latin typeface="Calibri" pitchFamily="34" charset="0"/>
                <a:ea typeface="Calibri" pitchFamily="34" charset="-122"/>
                <a:cs typeface="Calibri" pitchFamily="34" charset="-120"/>
              </a:rPr>
              <a:t>Jede Seite versteht es anders</a:t>
            </a:r>
            <a:endParaRPr lang="en-US" sz="1700" dirty="0"/>
          </a:p>
        </p:txBody>
      </p:sp>
      <p:sp>
        <p:nvSpPr>
          <p:cNvPr id="9" name="Text 7"/>
          <p:cNvSpPr txBox="1"/>
          <p:nvPr/>
        </p:nvSpPr>
        <p:spPr>
          <a:xfrm>
            <a:off x="8188757" y="1600200"/>
            <a:ext cx="109728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03</a:t>
            </a:r>
            <a:endParaRPr lang="en-US" sz="4000" dirty="0"/>
          </a:p>
        </p:txBody>
      </p:sp>
      <p:sp>
        <p:nvSpPr>
          <p:cNvPr id="10" name="Text 8"/>
          <p:cNvSpPr txBox="1"/>
          <p:nvPr/>
        </p:nvSpPr>
        <p:spPr>
          <a:xfrm>
            <a:off x="8188757" y="2423160"/>
            <a:ext cx="327141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Misstrauen</a:t>
            </a:r>
            <a:endParaRPr lang="en-US" sz="2000" dirty="0"/>
          </a:p>
        </p:txBody>
      </p:sp>
      <p:sp>
        <p:nvSpPr>
          <p:cNvPr id="11" name="Text 9"/>
          <p:cNvSpPr txBox="1"/>
          <p:nvPr/>
        </p:nvSpPr>
        <p:spPr>
          <a:xfrm>
            <a:off x="8188757" y="2880360"/>
            <a:ext cx="3271418" cy="640080"/>
          </a:xfrm>
          <a:prstGeom prst="rect">
            <a:avLst/>
          </a:prstGeom>
          <a:noFill/>
          <a:ln/>
        </p:spPr>
        <p:txBody>
          <a:bodyPr wrap="square" lIns="0" tIns="0" rIns="0" bIns="0" rtlCol="0" anchor="t"/>
          <a:lstStyle/>
          <a:p>
            <a:pPr indent="0" marL="0">
              <a:buNone/>
            </a:pPr>
            <a:r>
              <a:rPr lang="en-US" sz="1700" dirty="0">
                <a:solidFill>
                  <a:srgbClr val="C9D1DE"/>
                </a:solidFill>
                <a:latin typeface="Calibri" pitchFamily="34" charset="0"/>
                <a:ea typeface="Calibri" pitchFamily="34" charset="-122"/>
                <a:cs typeface="Calibri" pitchFamily="34" charset="-120"/>
              </a:rPr>
              <a:t>Manöver und Waffenlieferungen</a:t>
            </a:r>
            <a:endParaRPr lang="en-US" sz="1700" dirty="0"/>
          </a:p>
        </p:txBody>
      </p:sp>
      <p:sp>
        <p:nvSpPr>
          <p:cNvPr id="12" name="Text 10"/>
          <p:cNvSpPr txBox="1"/>
          <p:nvPr/>
        </p:nvSpPr>
        <p:spPr>
          <a:xfrm>
            <a:off x="548640" y="3931920"/>
            <a:ext cx="109728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04</a:t>
            </a:r>
            <a:endParaRPr lang="en-US" sz="4000" dirty="0"/>
          </a:p>
        </p:txBody>
      </p:sp>
      <p:sp>
        <p:nvSpPr>
          <p:cNvPr id="13" name="Text 11"/>
          <p:cNvSpPr txBox="1"/>
          <p:nvPr/>
        </p:nvSpPr>
        <p:spPr>
          <a:xfrm>
            <a:off x="548640" y="4754880"/>
            <a:ext cx="327141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Innenpolitik</a:t>
            </a:r>
            <a:endParaRPr lang="en-US" sz="2000" dirty="0"/>
          </a:p>
        </p:txBody>
      </p:sp>
      <p:sp>
        <p:nvSpPr>
          <p:cNvPr id="14" name="Text 12"/>
          <p:cNvSpPr txBox="1"/>
          <p:nvPr/>
        </p:nvSpPr>
        <p:spPr>
          <a:xfrm>
            <a:off x="548640" y="5212080"/>
            <a:ext cx="3271418" cy="640080"/>
          </a:xfrm>
          <a:prstGeom prst="rect">
            <a:avLst/>
          </a:prstGeom>
          <a:noFill/>
          <a:ln/>
        </p:spPr>
        <p:txBody>
          <a:bodyPr wrap="square" lIns="0" tIns="0" rIns="0" bIns="0" rtlCol="0" anchor="t"/>
          <a:lstStyle/>
          <a:p>
            <a:pPr indent="0" marL="0">
              <a:buNone/>
            </a:pPr>
            <a:r>
              <a:rPr lang="en-US" sz="1700" dirty="0">
                <a:solidFill>
                  <a:srgbClr val="C9D1DE"/>
                </a:solidFill>
                <a:latin typeface="Calibri" pitchFamily="34" charset="0"/>
                <a:ea typeface="Calibri" pitchFamily="34" charset="-122"/>
                <a:cs typeface="Calibri" pitchFamily="34" charset="-120"/>
              </a:rPr>
              <a:t>Kompromisse gelten als Schwäche</a:t>
            </a:r>
            <a:endParaRPr lang="en-US" sz="1700" dirty="0"/>
          </a:p>
        </p:txBody>
      </p:sp>
      <p:sp>
        <p:nvSpPr>
          <p:cNvPr id="15" name="Text 13"/>
          <p:cNvSpPr txBox="1"/>
          <p:nvPr/>
        </p:nvSpPr>
        <p:spPr>
          <a:xfrm>
            <a:off x="4368698" y="3931920"/>
            <a:ext cx="109728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05</a:t>
            </a:r>
            <a:endParaRPr lang="en-US" sz="4000" dirty="0"/>
          </a:p>
        </p:txBody>
      </p:sp>
      <p:sp>
        <p:nvSpPr>
          <p:cNvPr id="16" name="Text 14"/>
          <p:cNvSpPr txBox="1"/>
          <p:nvPr/>
        </p:nvSpPr>
        <p:spPr>
          <a:xfrm>
            <a:off x="4368698" y="4754880"/>
            <a:ext cx="327141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Großmachtkonkurrenz</a:t>
            </a:r>
            <a:endParaRPr lang="en-US" sz="2000" dirty="0"/>
          </a:p>
        </p:txBody>
      </p:sp>
      <p:sp>
        <p:nvSpPr>
          <p:cNvPr id="17" name="Text 15"/>
          <p:cNvSpPr txBox="1"/>
          <p:nvPr/>
        </p:nvSpPr>
        <p:spPr>
          <a:xfrm>
            <a:off x="4368698" y="5212080"/>
            <a:ext cx="3271418" cy="640080"/>
          </a:xfrm>
          <a:prstGeom prst="rect">
            <a:avLst/>
          </a:prstGeom>
          <a:noFill/>
          <a:ln/>
        </p:spPr>
        <p:txBody>
          <a:bodyPr wrap="square" lIns="0" tIns="0" rIns="0" bIns="0" rtlCol="0" anchor="t"/>
          <a:lstStyle/>
          <a:p>
            <a:pPr indent="0" marL="0">
              <a:buNone/>
            </a:pPr>
            <a:r>
              <a:rPr lang="en-US" sz="1700" dirty="0">
                <a:solidFill>
                  <a:srgbClr val="C9D1DE"/>
                </a:solidFill>
                <a:latin typeface="Calibri" pitchFamily="34" charset="0"/>
                <a:ea typeface="Calibri" pitchFamily="34" charset="-122"/>
                <a:cs typeface="Calibri" pitchFamily="34" charset="-120"/>
              </a:rPr>
              <a:t>USA vs. China</a:t>
            </a:r>
            <a:endParaRPr lang="en-US" sz="1700" dirty="0"/>
          </a:p>
        </p:txBody>
      </p:sp>
      <p:sp>
        <p:nvSpPr>
          <p:cNvPr id="18" name="Text 16"/>
          <p:cNvSpPr txBox="1"/>
          <p:nvPr/>
        </p:nvSpPr>
        <p:spPr>
          <a:xfrm>
            <a:off x="8188757" y="3931920"/>
            <a:ext cx="109728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06</a:t>
            </a:r>
            <a:endParaRPr lang="en-US" sz="4000" dirty="0"/>
          </a:p>
        </p:txBody>
      </p:sp>
      <p:sp>
        <p:nvSpPr>
          <p:cNvPr id="19" name="Text 17"/>
          <p:cNvSpPr txBox="1"/>
          <p:nvPr/>
        </p:nvSpPr>
        <p:spPr>
          <a:xfrm>
            <a:off x="8188757" y="4754880"/>
            <a:ext cx="327141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Hohes Risiko</a:t>
            </a:r>
            <a:endParaRPr lang="en-US" sz="2000" dirty="0"/>
          </a:p>
        </p:txBody>
      </p:sp>
      <p:sp>
        <p:nvSpPr>
          <p:cNvPr id="20" name="Text 18"/>
          <p:cNvSpPr txBox="1"/>
          <p:nvPr/>
        </p:nvSpPr>
        <p:spPr>
          <a:xfrm>
            <a:off x="8188757" y="5212080"/>
            <a:ext cx="3271418" cy="640080"/>
          </a:xfrm>
          <a:prstGeom prst="rect">
            <a:avLst/>
          </a:prstGeom>
          <a:noFill/>
          <a:ln/>
        </p:spPr>
        <p:txBody>
          <a:bodyPr wrap="square" lIns="0" tIns="0" rIns="0" bIns="0" rtlCol="0" anchor="t"/>
          <a:lstStyle/>
          <a:p>
            <a:pPr indent="0" marL="0">
              <a:buNone/>
            </a:pPr>
            <a:r>
              <a:rPr lang="en-US" sz="1700" dirty="0">
                <a:solidFill>
                  <a:srgbClr val="C9D1DE"/>
                </a:solidFill>
                <a:latin typeface="Calibri" pitchFamily="34" charset="0"/>
                <a:ea typeface="Calibri" pitchFamily="34" charset="-122"/>
                <a:cs typeface="Calibri" pitchFamily="34" charset="-120"/>
              </a:rPr>
              <a:t>Jede Statusänderung kann eskalieren</a:t>
            </a:r>
            <a:endParaRPr lang="en-US" sz="17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C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rop/un.jpg">    </p:cNvPr>
          <p:cNvPicPr>
            <a:picLocks noChangeAspect="1"/>
          </p:cNvPicPr>
          <p:nvPr/>
        </p:nvPicPr>
        <p:blipFill>
          <a:blip r:embed="rId1"/>
          <a:stretch>
            <a:fillRect/>
          </a:stretch>
        </p:blipFill>
        <p:spPr>
          <a:xfrm>
            <a:off x="7619695" y="0"/>
            <a:ext cx="4572000" cy="6858000"/>
          </a:xfrm>
          <a:prstGeom prst="rect">
            <a:avLst/>
          </a:prstGeom>
        </p:spPr>
      </p:pic>
      <p:sp>
        <p:nvSpPr>
          <p:cNvPr id="3" name="Text 0"/>
          <p:cNvSpPr txBox="1"/>
          <p:nvPr/>
        </p:nvSpPr>
        <p:spPr>
          <a:xfrm>
            <a:off x="7756855" y="6537960"/>
            <a:ext cx="4297680" cy="228600"/>
          </a:xfrm>
          <a:prstGeom prst="rect">
            <a:avLst/>
          </a:prstGeom>
          <a:noFill/>
          <a:ln/>
        </p:spPr>
        <p:txBody>
          <a:bodyPr wrap="square" lIns="0" tIns="0" rIns="0" bIns="0" rtlCol="0" anchor="t"/>
          <a:lstStyle/>
          <a:p>
            <a:pPr algn="l" indent="0" marL="0">
              <a:buNone/>
            </a:pPr>
            <a:r>
              <a:rPr lang="en-US" sz="900" i="1" dirty="0">
                <a:solidFill>
                  <a:srgbClr val="FFFFFF"/>
                </a:solidFill>
                <a:latin typeface="Calibri" pitchFamily="34" charset="0"/>
                <a:ea typeface="Calibri" pitchFamily="34" charset="-122"/>
                <a:cs typeface="Calibri" pitchFamily="34" charset="-120"/>
              </a:rPr>
              <a:t>UN-Generalversammlung · Foto: Patrick Gruban, CC BY-SA 2.0</a:t>
            </a:r>
            <a:endParaRPr lang="en-US" sz="900" dirty="0"/>
          </a:p>
        </p:txBody>
      </p:sp>
      <p:sp>
        <p:nvSpPr>
          <p:cNvPr id="4"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12  Was kann die Welt tun?</a:t>
            </a:r>
            <a:endParaRPr lang="en-US" sz="3200" dirty="0"/>
          </a:p>
        </p:txBody>
      </p:sp>
      <p:sp>
        <p:nvSpPr>
          <p:cNvPr id="5" name="Shape 2"/>
          <p:cNvSpPr/>
          <p:nvPr/>
        </p:nvSpPr>
        <p:spPr>
          <a:xfrm>
            <a:off x="548640" y="1508760"/>
            <a:ext cx="6492240" cy="1371600"/>
          </a:xfrm>
          <a:prstGeom prst="roundRect">
            <a:avLst>
              <a:gd name="adj" fmla="val 8000"/>
            </a:avLst>
          </a:prstGeom>
          <a:solidFill>
            <a:srgbClr val="F1F3F6"/>
          </a:solidFill>
          <a:ln w="12700">
            <a:solidFill>
              <a:srgbClr val="F1F3F6"/>
            </a:solidFill>
            <a:prstDash val="solid"/>
          </a:ln>
        </p:spPr>
      </p:sp>
      <p:pic>
        <p:nvPicPr>
          <p:cNvPr id="6" name="Image 1" descr="img/flag_un.png">    </p:cNvPr>
          <p:cNvPicPr>
            <a:picLocks noChangeAspect="1"/>
          </p:cNvPicPr>
          <p:nvPr/>
        </p:nvPicPr>
        <p:blipFill>
          <a:blip r:embed="rId2"/>
          <a:stretch>
            <a:fillRect/>
          </a:stretch>
        </p:blipFill>
        <p:spPr>
          <a:xfrm>
            <a:off x="822960" y="1783080"/>
            <a:ext cx="731520" cy="484632"/>
          </a:xfrm>
          <a:prstGeom prst="rect">
            <a:avLst/>
          </a:prstGeom>
        </p:spPr>
      </p:pic>
      <p:sp>
        <p:nvSpPr>
          <p:cNvPr id="7" name="Text 3"/>
          <p:cNvSpPr txBox="1"/>
          <p:nvPr/>
        </p:nvSpPr>
        <p:spPr>
          <a:xfrm>
            <a:off x="1828800" y="1691640"/>
            <a:ext cx="4937760" cy="36576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Vereinte Nationen</a:t>
            </a:r>
            <a:endParaRPr lang="en-US" sz="1900" dirty="0"/>
          </a:p>
        </p:txBody>
      </p:sp>
      <p:sp>
        <p:nvSpPr>
          <p:cNvPr id="8" name="Text 4"/>
          <p:cNvSpPr txBox="1"/>
          <p:nvPr/>
        </p:nvSpPr>
        <p:spPr>
          <a:xfrm>
            <a:off x="1828800" y="2075688"/>
            <a:ext cx="4937760" cy="6858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Plattform für Dialog – aber China hat ein Veto im Sicherheitsrat.</a:t>
            </a:r>
            <a:endParaRPr lang="en-US" sz="1600" dirty="0"/>
          </a:p>
        </p:txBody>
      </p:sp>
      <p:sp>
        <p:nvSpPr>
          <p:cNvPr id="9" name="Shape 5"/>
          <p:cNvSpPr/>
          <p:nvPr/>
        </p:nvSpPr>
        <p:spPr>
          <a:xfrm>
            <a:off x="548640" y="3108960"/>
            <a:ext cx="6492240" cy="1371600"/>
          </a:xfrm>
          <a:prstGeom prst="roundRect">
            <a:avLst>
              <a:gd name="adj" fmla="val 8000"/>
            </a:avLst>
          </a:prstGeom>
          <a:solidFill>
            <a:srgbClr val="F1F3F6"/>
          </a:solidFill>
          <a:ln w="12700">
            <a:solidFill>
              <a:srgbClr val="F1F3F6"/>
            </a:solidFill>
            <a:prstDash val="solid"/>
          </a:ln>
        </p:spPr>
      </p:sp>
      <p:pic>
        <p:nvPicPr>
          <p:cNvPr id="10" name="Image 2" descr="img/flag_us.png">    </p:cNvPr>
          <p:cNvPicPr>
            <a:picLocks noChangeAspect="1"/>
          </p:cNvPicPr>
          <p:nvPr/>
        </p:nvPicPr>
        <p:blipFill>
          <a:blip r:embed="rId3"/>
          <a:stretch>
            <a:fillRect/>
          </a:stretch>
        </p:blipFill>
        <p:spPr>
          <a:xfrm>
            <a:off x="822960" y="3383280"/>
            <a:ext cx="777240" cy="411480"/>
          </a:xfrm>
          <a:prstGeom prst="rect">
            <a:avLst/>
          </a:prstGeom>
        </p:spPr>
      </p:pic>
      <p:sp>
        <p:nvSpPr>
          <p:cNvPr id="11" name="Text 6"/>
          <p:cNvSpPr txBox="1"/>
          <p:nvPr/>
        </p:nvSpPr>
        <p:spPr>
          <a:xfrm>
            <a:off x="1828800" y="3291840"/>
            <a:ext cx="4937760" cy="36576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USA / Japan</a:t>
            </a:r>
            <a:endParaRPr lang="en-US" sz="1900" dirty="0"/>
          </a:p>
        </p:txBody>
      </p:sp>
      <p:sp>
        <p:nvSpPr>
          <p:cNvPr id="12" name="Text 7"/>
          <p:cNvSpPr txBox="1"/>
          <p:nvPr/>
        </p:nvSpPr>
        <p:spPr>
          <a:xfrm>
            <a:off x="1828800" y="3675888"/>
            <a:ext cx="4937760" cy="6858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Abschrecken und Taiwan stärken, zugleich mit China reden.</a:t>
            </a:r>
            <a:endParaRPr lang="en-US" sz="1600" dirty="0"/>
          </a:p>
        </p:txBody>
      </p:sp>
      <p:sp>
        <p:nvSpPr>
          <p:cNvPr id="13" name="Shape 8"/>
          <p:cNvSpPr/>
          <p:nvPr/>
        </p:nvSpPr>
        <p:spPr>
          <a:xfrm>
            <a:off x="548640" y="4709160"/>
            <a:ext cx="6492240" cy="1371600"/>
          </a:xfrm>
          <a:prstGeom prst="roundRect">
            <a:avLst>
              <a:gd name="adj" fmla="val 8000"/>
            </a:avLst>
          </a:prstGeom>
          <a:solidFill>
            <a:srgbClr val="F1F3F6"/>
          </a:solidFill>
          <a:ln w="12700">
            <a:solidFill>
              <a:srgbClr val="F1F3F6"/>
            </a:solidFill>
            <a:prstDash val="solid"/>
          </a:ln>
        </p:spPr>
      </p:sp>
      <p:pic>
        <p:nvPicPr>
          <p:cNvPr id="14" name="Image 3" descr="img/flag_eu.png">    </p:cNvPr>
          <p:cNvPicPr>
            <a:picLocks noChangeAspect="1"/>
          </p:cNvPicPr>
          <p:nvPr/>
        </p:nvPicPr>
        <p:blipFill>
          <a:blip r:embed="rId4"/>
          <a:stretch>
            <a:fillRect/>
          </a:stretch>
        </p:blipFill>
        <p:spPr>
          <a:xfrm>
            <a:off x="822960" y="4983480"/>
            <a:ext cx="731520" cy="484632"/>
          </a:xfrm>
          <a:prstGeom prst="rect">
            <a:avLst/>
          </a:prstGeom>
        </p:spPr>
      </p:pic>
      <p:sp>
        <p:nvSpPr>
          <p:cNvPr id="15" name="Text 9"/>
          <p:cNvSpPr txBox="1"/>
          <p:nvPr/>
        </p:nvSpPr>
        <p:spPr>
          <a:xfrm>
            <a:off x="1828800" y="4892040"/>
            <a:ext cx="4937760" cy="36576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EU / Deutschland</a:t>
            </a:r>
            <a:endParaRPr lang="en-US" sz="1900" dirty="0"/>
          </a:p>
        </p:txBody>
      </p:sp>
      <p:sp>
        <p:nvSpPr>
          <p:cNvPr id="16" name="Text 10"/>
          <p:cNvSpPr txBox="1"/>
          <p:nvPr/>
        </p:nvSpPr>
        <p:spPr>
          <a:xfrm>
            <a:off x="1828800" y="5276088"/>
            <a:ext cx="4937760" cy="6858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Gewalt klar ablehnen, Abhängigkeiten von China verringern.</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13  Wie groß ist die Kriegsgefahr 2026?</a:t>
            </a:r>
            <a:endParaRPr lang="en-US" sz="3200" dirty="0"/>
          </a:p>
        </p:txBody>
      </p:sp>
      <p:sp>
        <p:nvSpPr>
          <p:cNvPr id="3" name="Shape 1"/>
          <p:cNvSpPr/>
          <p:nvPr/>
        </p:nvSpPr>
        <p:spPr>
          <a:xfrm>
            <a:off x="548640" y="1417320"/>
            <a:ext cx="4815688" cy="3429000"/>
          </a:xfrm>
          <a:prstGeom prst="roundRect">
            <a:avLst>
              <a:gd name="adj" fmla="val 3200"/>
            </a:avLst>
          </a:prstGeom>
          <a:solidFill>
            <a:srgbClr val="F1F3F6"/>
          </a:solidFill>
          <a:ln w="12700">
            <a:solidFill>
              <a:srgbClr val="F1F3F6"/>
            </a:solidFill>
            <a:prstDash val="solid"/>
          </a:ln>
        </p:spPr>
      </p:sp>
      <p:sp>
        <p:nvSpPr>
          <p:cNvPr id="4" name="Shape 2"/>
          <p:cNvSpPr/>
          <p:nvPr/>
        </p:nvSpPr>
        <p:spPr>
          <a:xfrm>
            <a:off x="868680" y="1645920"/>
            <a:ext cx="640080" cy="640080"/>
          </a:xfrm>
          <a:prstGeom prst="ellipse">
            <a:avLst/>
          </a:prstGeom>
          <a:solidFill>
            <a:srgbClr val="C8102E"/>
          </a:solidFill>
          <a:ln w="12700">
            <a:solidFill>
              <a:srgbClr val="C8102E"/>
            </a:solidFill>
            <a:prstDash val="solid"/>
          </a:ln>
        </p:spPr>
      </p:sp>
      <p:pic>
        <p:nvPicPr>
          <p:cNvPr id="5" name="Image 0" descr="preencoded.png">    </p:cNvPr>
          <p:cNvPicPr>
            <a:picLocks noChangeAspect="1"/>
          </p:cNvPicPr>
          <p:nvPr/>
        </p:nvPicPr>
        <p:blipFill>
          <a:blip r:embed="rId1"/>
          <a:stretch>
            <a:fillRect/>
          </a:stretch>
        </p:blipFill>
        <p:spPr>
          <a:xfrm>
            <a:off x="1022299" y="1799539"/>
            <a:ext cx="332842" cy="332842"/>
          </a:xfrm>
          <a:prstGeom prst="rect">
            <a:avLst/>
          </a:prstGeom>
        </p:spPr>
      </p:pic>
      <p:sp>
        <p:nvSpPr>
          <p:cNvPr id="6" name="Text 3"/>
          <p:cNvSpPr txBox="1"/>
          <p:nvPr/>
        </p:nvSpPr>
        <p:spPr>
          <a:xfrm>
            <a:off x="1691640" y="1645920"/>
            <a:ext cx="3444088" cy="640080"/>
          </a:xfrm>
          <a:prstGeom prst="rect">
            <a:avLst/>
          </a:prstGeom>
          <a:noFill/>
          <a:ln/>
        </p:spPr>
        <p:txBody>
          <a:bodyPr wrap="square" lIns="0" tIns="0" rIns="0" bIns="0" rtlCol="0" anchor="ctr"/>
          <a:lstStyle/>
          <a:p>
            <a:pPr indent="0" marL="0">
              <a:buNone/>
            </a:pPr>
            <a:r>
              <a:rPr lang="en-US" sz="2200" b="1" dirty="0">
                <a:solidFill>
                  <a:srgbClr val="C8102E"/>
                </a:solidFill>
                <a:latin typeface="Calibri" pitchFamily="34" charset="0"/>
                <a:ea typeface="Calibri" pitchFamily="34" charset="-122"/>
                <a:cs typeface="Calibri" pitchFamily="34" charset="-120"/>
              </a:rPr>
              <a:t>Dafür spricht …</a:t>
            </a:r>
            <a:endParaRPr lang="en-US" sz="2200" dirty="0"/>
          </a:p>
        </p:txBody>
      </p:sp>
      <p:sp>
        <p:nvSpPr>
          <p:cNvPr id="7" name="Text 4"/>
          <p:cNvSpPr txBox="1"/>
          <p:nvPr/>
        </p:nvSpPr>
        <p:spPr>
          <a:xfrm>
            <a:off x="868680" y="2560320"/>
            <a:ext cx="4175608" cy="2194560"/>
          </a:xfrm>
          <a:prstGeom prst="rect">
            <a:avLst/>
          </a:prstGeom>
          <a:noFill/>
          <a:ln/>
        </p:spPr>
        <p:txBody>
          <a:bodyPr wrap="square" lIns="0" tIns="0" rIns="0" bIns="0" rtlCol="0" anchor="t"/>
          <a:lstStyle/>
          <a:p>
            <a:pPr marL="177800" indent="-177800">
              <a:spcAft>
                <a:spcPts val="1000"/>
              </a:spcAft>
              <a:buSzPct val="100000"/>
              <a:buChar char="•"/>
            </a:pPr>
            <a:r>
              <a:rPr lang="en-US" sz="1800" dirty="0">
                <a:solidFill>
                  <a:srgbClr val="1F2937"/>
                </a:solidFill>
                <a:latin typeface="Calibri" pitchFamily="34" charset="0"/>
                <a:ea typeface="Calibri" pitchFamily="34" charset="-122"/>
                <a:cs typeface="Calibri" pitchFamily="34" charset="-120"/>
              </a:rPr>
              <a:t>China rüstet stark auf</a:t>
            </a:r>
            <a:endParaRPr lang="en-US" sz="1800" dirty="0"/>
          </a:p>
          <a:p>
            <a:pPr marL="177800" indent="-177800">
              <a:spcAft>
                <a:spcPts val="1000"/>
              </a:spcAft>
              <a:buSzPct val="100000"/>
              <a:buChar char="•"/>
            </a:pPr>
            <a:r>
              <a:rPr lang="en-US" sz="1800" dirty="0">
                <a:solidFill>
                  <a:srgbClr val="1F2937"/>
                </a:solidFill>
                <a:latin typeface="Calibri" pitchFamily="34" charset="0"/>
                <a:ea typeface="Calibri" pitchFamily="34" charset="-122"/>
                <a:cs typeface="Calibri" pitchFamily="34" charset="-120"/>
              </a:rPr>
              <a:t>mehr und größere Manöver</a:t>
            </a:r>
            <a:endParaRPr lang="en-US" sz="1800" dirty="0"/>
          </a:p>
          <a:p>
            <a:pPr marL="177800" indent="-177800">
              <a:spcAft>
                <a:spcPts val="1000"/>
              </a:spcAft>
              <a:buSzPct val="100000"/>
              <a:buChar char="•"/>
            </a:pPr>
            <a:r>
              <a:rPr lang="en-US" sz="1800" dirty="0">
                <a:solidFill>
                  <a:srgbClr val="1F2937"/>
                </a:solidFill>
                <a:latin typeface="Calibri" pitchFamily="34" charset="0"/>
                <a:ea typeface="Calibri" pitchFamily="34" charset="-122"/>
                <a:cs typeface="Calibri" pitchFamily="34" charset="-120"/>
              </a:rPr>
              <a:t>USA und China rivalisieren stärker</a:t>
            </a:r>
            <a:endParaRPr lang="en-US" sz="1800" dirty="0"/>
          </a:p>
        </p:txBody>
      </p:sp>
      <p:sp>
        <p:nvSpPr>
          <p:cNvPr id="8" name="Shape 5"/>
          <p:cNvSpPr/>
          <p:nvPr/>
        </p:nvSpPr>
        <p:spPr>
          <a:xfrm>
            <a:off x="6827368" y="1417320"/>
            <a:ext cx="4815688" cy="3429000"/>
          </a:xfrm>
          <a:prstGeom prst="roundRect">
            <a:avLst>
              <a:gd name="adj" fmla="val 3200"/>
            </a:avLst>
          </a:prstGeom>
          <a:solidFill>
            <a:srgbClr val="F1F3F6"/>
          </a:solidFill>
          <a:ln w="12700">
            <a:solidFill>
              <a:srgbClr val="F1F3F6"/>
            </a:solidFill>
            <a:prstDash val="solid"/>
          </a:ln>
        </p:spPr>
      </p:sp>
      <p:sp>
        <p:nvSpPr>
          <p:cNvPr id="9" name="Shape 6"/>
          <p:cNvSpPr/>
          <p:nvPr/>
        </p:nvSpPr>
        <p:spPr>
          <a:xfrm>
            <a:off x="7147408" y="1645920"/>
            <a:ext cx="640080" cy="640080"/>
          </a:xfrm>
          <a:prstGeom prst="ellipse">
            <a:avLst/>
          </a:prstGeom>
          <a:solidFill>
            <a:srgbClr val="2F6B4F"/>
          </a:solidFill>
          <a:ln w="12700">
            <a:solidFill>
              <a:srgbClr val="2F6B4F"/>
            </a:solidFill>
            <a:prstDash val="solid"/>
          </a:ln>
        </p:spPr>
      </p:sp>
      <p:pic>
        <p:nvPicPr>
          <p:cNvPr id="10" name="Image 1" descr="preencoded.png">    </p:cNvPr>
          <p:cNvPicPr>
            <a:picLocks noChangeAspect="1"/>
          </p:cNvPicPr>
          <p:nvPr/>
        </p:nvPicPr>
        <p:blipFill>
          <a:blip r:embed="rId2"/>
          <a:stretch>
            <a:fillRect/>
          </a:stretch>
        </p:blipFill>
        <p:spPr>
          <a:xfrm>
            <a:off x="7301027" y="1799539"/>
            <a:ext cx="332842" cy="332842"/>
          </a:xfrm>
          <a:prstGeom prst="rect">
            <a:avLst/>
          </a:prstGeom>
        </p:spPr>
      </p:pic>
      <p:sp>
        <p:nvSpPr>
          <p:cNvPr id="11" name="Text 7"/>
          <p:cNvSpPr txBox="1"/>
          <p:nvPr/>
        </p:nvSpPr>
        <p:spPr>
          <a:xfrm>
            <a:off x="7970368" y="1645920"/>
            <a:ext cx="3444088" cy="640080"/>
          </a:xfrm>
          <a:prstGeom prst="rect">
            <a:avLst/>
          </a:prstGeom>
          <a:noFill/>
          <a:ln/>
        </p:spPr>
        <p:txBody>
          <a:bodyPr wrap="square" lIns="0" tIns="0" rIns="0" bIns="0" rtlCol="0" anchor="ctr"/>
          <a:lstStyle/>
          <a:p>
            <a:pPr indent="0" marL="0">
              <a:buNone/>
            </a:pPr>
            <a:r>
              <a:rPr lang="en-US" sz="2200" b="1" dirty="0">
                <a:solidFill>
                  <a:srgbClr val="2F6B4F"/>
                </a:solidFill>
                <a:latin typeface="Calibri" pitchFamily="34" charset="0"/>
                <a:ea typeface="Calibri" pitchFamily="34" charset="-122"/>
                <a:cs typeface="Calibri" pitchFamily="34" charset="-120"/>
              </a:rPr>
              <a:t>Dagegen spricht …</a:t>
            </a:r>
            <a:endParaRPr lang="en-US" sz="2200" dirty="0"/>
          </a:p>
        </p:txBody>
      </p:sp>
      <p:sp>
        <p:nvSpPr>
          <p:cNvPr id="12" name="Text 8"/>
          <p:cNvSpPr txBox="1"/>
          <p:nvPr/>
        </p:nvSpPr>
        <p:spPr>
          <a:xfrm>
            <a:off x="7147408" y="2560320"/>
            <a:ext cx="4175608" cy="2194560"/>
          </a:xfrm>
          <a:prstGeom prst="rect">
            <a:avLst/>
          </a:prstGeom>
          <a:noFill/>
          <a:ln/>
        </p:spPr>
        <p:txBody>
          <a:bodyPr wrap="square" lIns="0" tIns="0" rIns="0" bIns="0" rtlCol="0" anchor="t"/>
          <a:lstStyle/>
          <a:p>
            <a:pPr marL="177800" indent="-177800">
              <a:spcAft>
                <a:spcPts val="1000"/>
              </a:spcAft>
              <a:buSzPct val="100000"/>
              <a:buChar char="•"/>
            </a:pPr>
            <a:r>
              <a:rPr lang="en-US" sz="1800" dirty="0">
                <a:solidFill>
                  <a:srgbClr val="1F2937"/>
                </a:solidFill>
                <a:latin typeface="Calibri" pitchFamily="34" charset="0"/>
                <a:ea typeface="Calibri" pitchFamily="34" charset="-122"/>
                <a:cs typeface="Calibri" pitchFamily="34" charset="-120"/>
              </a:rPr>
              <a:t>Invasion wäre extrem schwierig</a:t>
            </a:r>
            <a:endParaRPr lang="en-US" sz="1800" dirty="0"/>
          </a:p>
          <a:p>
            <a:pPr marL="177800" indent="-177800">
              <a:spcAft>
                <a:spcPts val="1000"/>
              </a:spcAft>
              <a:buSzPct val="100000"/>
              <a:buChar char="•"/>
            </a:pPr>
            <a:r>
              <a:rPr lang="en-US" sz="1800" dirty="0">
                <a:solidFill>
                  <a:srgbClr val="1F2937"/>
                </a:solidFill>
                <a:latin typeface="Calibri" pitchFamily="34" charset="0"/>
                <a:ea typeface="Calibri" pitchFamily="34" charset="-122"/>
                <a:cs typeface="Calibri" pitchFamily="34" charset="-120"/>
              </a:rPr>
              <a:t>wirtschaftlich riskant für China</a:t>
            </a:r>
            <a:endParaRPr lang="en-US" sz="1800" dirty="0"/>
          </a:p>
          <a:p>
            <a:pPr marL="177800" indent="-177800">
              <a:spcAft>
                <a:spcPts val="1000"/>
              </a:spcAft>
              <a:buSzPct val="100000"/>
              <a:buChar char="•"/>
            </a:pPr>
            <a:r>
              <a:rPr lang="en-US" sz="1800" dirty="0">
                <a:solidFill>
                  <a:srgbClr val="1F2937"/>
                </a:solidFill>
                <a:latin typeface="Calibri" pitchFamily="34" charset="0"/>
                <a:ea typeface="Calibri" pitchFamily="34" charset="-122"/>
                <a:cs typeface="Calibri" pitchFamily="34" charset="-120"/>
              </a:rPr>
              <a:t>US-Einschätzung: vor 2028 eher unwahrscheinlich</a:t>
            </a:r>
            <a:endParaRPr lang="en-US" sz="1800" dirty="0"/>
          </a:p>
        </p:txBody>
      </p:sp>
      <p:sp>
        <p:nvSpPr>
          <p:cNvPr id="13" name="Shape 9"/>
          <p:cNvSpPr/>
          <p:nvPr/>
        </p:nvSpPr>
        <p:spPr>
          <a:xfrm>
            <a:off x="5547208" y="2606040"/>
            <a:ext cx="1097280" cy="1097280"/>
          </a:xfrm>
          <a:prstGeom prst="ellipse">
            <a:avLst/>
          </a:prstGeom>
          <a:solidFill>
            <a:srgbClr val="14213D"/>
          </a:solidFill>
          <a:ln w="12700">
            <a:solidFill>
              <a:srgbClr val="14213D"/>
            </a:solidFill>
            <a:prstDash val="solid"/>
          </a:ln>
        </p:spPr>
      </p:sp>
      <p:pic>
        <p:nvPicPr>
          <p:cNvPr id="14" name="Image 2" descr="preencoded.png">    </p:cNvPr>
          <p:cNvPicPr>
            <a:picLocks noChangeAspect="1"/>
          </p:cNvPicPr>
          <p:nvPr/>
        </p:nvPicPr>
        <p:blipFill>
          <a:blip r:embed="rId3"/>
          <a:stretch>
            <a:fillRect/>
          </a:stretch>
        </p:blipFill>
        <p:spPr>
          <a:xfrm>
            <a:off x="5810555" y="2869387"/>
            <a:ext cx="570586" cy="570586"/>
          </a:xfrm>
          <a:prstGeom prst="rect">
            <a:avLst/>
          </a:prstGeom>
        </p:spPr>
      </p:pic>
      <p:sp>
        <p:nvSpPr>
          <p:cNvPr id="15" name="Shape 10"/>
          <p:cNvSpPr/>
          <p:nvPr/>
        </p:nvSpPr>
        <p:spPr>
          <a:xfrm>
            <a:off x="548640" y="5120640"/>
            <a:ext cx="11094415" cy="1143000"/>
          </a:xfrm>
          <a:prstGeom prst="roundRect">
            <a:avLst>
              <a:gd name="adj" fmla="val 9600"/>
            </a:avLst>
          </a:prstGeom>
          <a:solidFill>
            <a:srgbClr val="14213D"/>
          </a:solidFill>
          <a:ln w="12700">
            <a:solidFill>
              <a:srgbClr val="14213D"/>
            </a:solidFill>
            <a:prstDash val="solid"/>
          </a:ln>
        </p:spPr>
      </p:sp>
      <p:sp>
        <p:nvSpPr>
          <p:cNvPr id="16" name="Text 11"/>
          <p:cNvSpPr txBox="1"/>
          <p:nvPr/>
        </p:nvSpPr>
        <p:spPr>
          <a:xfrm>
            <a:off x="868680" y="5120640"/>
            <a:ext cx="10454335" cy="1143000"/>
          </a:xfrm>
          <a:prstGeom prst="rect">
            <a:avLst/>
          </a:prstGeom>
          <a:noFill/>
          <a:ln/>
        </p:spPr>
        <p:txBody>
          <a:bodyPr wrap="square" lIns="0" tIns="0" rIns="0" bIns="0" rtlCol="0" anchor="ctr"/>
          <a:lstStyle/>
          <a:p>
            <a:pPr indent="0" marL="0">
              <a:buNone/>
            </a:pPr>
            <a:r>
              <a:rPr lang="en-US" sz="1900" b="1" dirty="0">
                <a:solidFill>
                  <a:srgbClr val="D9A21B"/>
                </a:solidFill>
                <a:latin typeface="Calibri" pitchFamily="34" charset="0"/>
                <a:ea typeface="Calibri" pitchFamily="34" charset="-122"/>
                <a:cs typeface="Calibri" pitchFamily="34" charset="-120"/>
              </a:rPr>
              <a:t>Fazit: </a:t>
            </a:r>
            <a:pPr indent="0" marL="0">
              <a:buNone/>
            </a:pPr>
            <a:r>
              <a:rPr lang="en-US" sz="1900" dirty="0">
                <a:solidFill>
                  <a:srgbClr val="FFFFFF"/>
                </a:solidFill>
                <a:latin typeface="Calibri" pitchFamily="34" charset="0"/>
                <a:ea typeface="Calibri" pitchFamily="34" charset="-122"/>
                <a:cs typeface="Calibri" pitchFamily="34" charset="-120"/>
              </a:rPr>
              <a:t>2027 ist kein „Invasionstermin“, sondern ein Ziel für Chinas militärische Bereitschaft.</a:t>
            </a:r>
            <a:endParaRPr lang="en-US" sz="19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14  Unser Fazit</a:t>
            </a:r>
            <a:endParaRPr lang="en-US" sz="3200" dirty="0"/>
          </a:p>
        </p:txBody>
      </p:sp>
      <p:sp>
        <p:nvSpPr>
          <p:cNvPr id="3" name="Text 1"/>
          <p:cNvSpPr txBox="1"/>
          <p:nvPr/>
        </p:nvSpPr>
        <p:spPr>
          <a:xfrm>
            <a:off x="548640" y="1371600"/>
            <a:ext cx="11094415" cy="822960"/>
          </a:xfrm>
          <a:prstGeom prst="rect">
            <a:avLst/>
          </a:prstGeom>
          <a:noFill/>
          <a:ln/>
        </p:spPr>
        <p:txBody>
          <a:bodyPr wrap="square" lIns="0" tIns="0" rIns="0" bIns="0" rtlCol="0" anchor="t"/>
          <a:lstStyle/>
          <a:p>
            <a:pPr indent="0" marL="0">
              <a:buNone/>
            </a:pPr>
            <a:r>
              <a:rPr lang="en-US" sz="2200" i="1" dirty="0">
                <a:solidFill>
                  <a:srgbClr val="DCE2EC"/>
                </a:solidFill>
                <a:latin typeface="Calibri" pitchFamily="34" charset="0"/>
                <a:ea typeface="Calibri" pitchFamily="34" charset="-122"/>
                <a:cs typeface="Calibri" pitchFamily="34" charset="-120"/>
              </a:rPr>
              <a:t>Eine endgültige Lösung ist nicht in Sicht. Realistisch ist: den Status quo friedlich stabilisieren.</a:t>
            </a:r>
            <a:endParaRPr lang="en-US" sz="2200" dirty="0"/>
          </a:p>
        </p:txBody>
      </p:sp>
      <p:sp>
        <p:nvSpPr>
          <p:cNvPr id="4" name="Shape 2"/>
          <p:cNvSpPr/>
          <p:nvPr/>
        </p:nvSpPr>
        <p:spPr>
          <a:xfrm>
            <a:off x="548640" y="2468880"/>
            <a:ext cx="3454298" cy="2377440"/>
          </a:xfrm>
          <a:prstGeom prst="roundRect">
            <a:avLst>
              <a:gd name="adj" fmla="val 4615"/>
            </a:avLst>
          </a:prstGeom>
          <a:solidFill>
            <a:srgbClr val="22325A"/>
          </a:solidFill>
          <a:ln w="12700">
            <a:solidFill>
              <a:srgbClr val="22325A"/>
            </a:solidFill>
            <a:prstDash val="solid"/>
          </a:ln>
        </p:spPr>
      </p:sp>
      <p:sp>
        <p:nvSpPr>
          <p:cNvPr id="5" name="Text 3"/>
          <p:cNvSpPr txBox="1"/>
          <p:nvPr/>
        </p:nvSpPr>
        <p:spPr>
          <a:xfrm>
            <a:off x="822960" y="2606040"/>
            <a:ext cx="91440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1</a:t>
            </a:r>
            <a:endParaRPr lang="en-US" sz="4000" dirty="0"/>
          </a:p>
        </p:txBody>
      </p:sp>
      <p:sp>
        <p:nvSpPr>
          <p:cNvPr id="6" name="Text 4"/>
          <p:cNvSpPr txBox="1"/>
          <p:nvPr/>
        </p:nvSpPr>
        <p:spPr>
          <a:xfrm>
            <a:off x="822960" y="3337560"/>
            <a:ext cx="290565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Keine Gewalt</a:t>
            </a:r>
            <a:endParaRPr lang="en-US" sz="2000" dirty="0"/>
          </a:p>
        </p:txBody>
      </p:sp>
      <p:sp>
        <p:nvSpPr>
          <p:cNvPr id="7" name="Text 5"/>
          <p:cNvSpPr txBox="1"/>
          <p:nvPr/>
        </p:nvSpPr>
        <p:spPr>
          <a:xfrm>
            <a:off x="822960" y="3794760"/>
            <a:ext cx="2905658" cy="914400"/>
          </a:xfrm>
          <a:prstGeom prst="rect">
            <a:avLst/>
          </a:prstGeom>
          <a:noFill/>
          <a:ln/>
        </p:spPr>
        <p:txBody>
          <a:bodyPr wrap="square" lIns="0" tIns="0" rIns="0" bIns="0" rtlCol="0" anchor="t"/>
          <a:lstStyle/>
          <a:p>
            <a:pPr indent="0" marL="0">
              <a:buNone/>
            </a:pPr>
            <a:r>
              <a:rPr lang="en-US" sz="1600" dirty="0">
                <a:solidFill>
                  <a:srgbClr val="C9D1DE"/>
                </a:solidFill>
                <a:latin typeface="Calibri" pitchFamily="34" charset="0"/>
                <a:ea typeface="Calibri" pitchFamily="34" charset="-122"/>
                <a:cs typeface="Calibri" pitchFamily="34" charset="-120"/>
              </a:rPr>
              <a:t>Kein Zwang und keine einseitige Änderung des Status quo</a:t>
            </a:r>
            <a:endParaRPr lang="en-US" sz="1600" dirty="0"/>
          </a:p>
        </p:txBody>
      </p:sp>
      <p:sp>
        <p:nvSpPr>
          <p:cNvPr id="8" name="Shape 6"/>
          <p:cNvSpPr/>
          <p:nvPr/>
        </p:nvSpPr>
        <p:spPr>
          <a:xfrm>
            <a:off x="4368698" y="2468880"/>
            <a:ext cx="3454298" cy="2377440"/>
          </a:xfrm>
          <a:prstGeom prst="roundRect">
            <a:avLst>
              <a:gd name="adj" fmla="val 4615"/>
            </a:avLst>
          </a:prstGeom>
          <a:solidFill>
            <a:srgbClr val="22325A"/>
          </a:solidFill>
          <a:ln w="12700">
            <a:solidFill>
              <a:srgbClr val="22325A"/>
            </a:solidFill>
            <a:prstDash val="solid"/>
          </a:ln>
        </p:spPr>
      </p:sp>
      <p:sp>
        <p:nvSpPr>
          <p:cNvPr id="9" name="Text 7"/>
          <p:cNvSpPr txBox="1"/>
          <p:nvPr/>
        </p:nvSpPr>
        <p:spPr>
          <a:xfrm>
            <a:off x="4643018" y="2606040"/>
            <a:ext cx="91440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2</a:t>
            </a:r>
            <a:endParaRPr lang="en-US" sz="4000" dirty="0"/>
          </a:p>
        </p:txBody>
      </p:sp>
      <p:sp>
        <p:nvSpPr>
          <p:cNvPr id="10" name="Text 8"/>
          <p:cNvSpPr txBox="1"/>
          <p:nvPr/>
        </p:nvSpPr>
        <p:spPr>
          <a:xfrm>
            <a:off x="4643018" y="3337560"/>
            <a:ext cx="290565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Reden</a:t>
            </a:r>
            <a:endParaRPr lang="en-US" sz="2000" dirty="0"/>
          </a:p>
        </p:txBody>
      </p:sp>
      <p:sp>
        <p:nvSpPr>
          <p:cNvPr id="11" name="Text 9"/>
          <p:cNvSpPr txBox="1"/>
          <p:nvPr/>
        </p:nvSpPr>
        <p:spPr>
          <a:xfrm>
            <a:off x="4643018" y="3794760"/>
            <a:ext cx="2905658" cy="914400"/>
          </a:xfrm>
          <a:prstGeom prst="rect">
            <a:avLst/>
          </a:prstGeom>
          <a:noFill/>
          <a:ln/>
        </p:spPr>
        <p:txBody>
          <a:bodyPr wrap="square" lIns="0" tIns="0" rIns="0" bIns="0" rtlCol="0" anchor="t"/>
          <a:lstStyle/>
          <a:p>
            <a:pPr indent="0" marL="0">
              <a:buNone/>
            </a:pPr>
            <a:r>
              <a:rPr lang="en-US" sz="1600" dirty="0">
                <a:solidFill>
                  <a:srgbClr val="C9D1DE"/>
                </a:solidFill>
                <a:latin typeface="Calibri" pitchFamily="34" charset="0"/>
                <a:ea typeface="Calibri" pitchFamily="34" charset="-122"/>
                <a:cs typeface="Calibri" pitchFamily="34" charset="-120"/>
              </a:rPr>
              <a:t>Gesprächskanäle ausbauen, um Fehlkalkulationen zu vermeiden</a:t>
            </a:r>
            <a:endParaRPr lang="en-US" sz="1600" dirty="0"/>
          </a:p>
        </p:txBody>
      </p:sp>
      <p:sp>
        <p:nvSpPr>
          <p:cNvPr id="12" name="Shape 10"/>
          <p:cNvSpPr/>
          <p:nvPr/>
        </p:nvSpPr>
        <p:spPr>
          <a:xfrm>
            <a:off x="8188757" y="2468880"/>
            <a:ext cx="3454298" cy="2377440"/>
          </a:xfrm>
          <a:prstGeom prst="roundRect">
            <a:avLst>
              <a:gd name="adj" fmla="val 4615"/>
            </a:avLst>
          </a:prstGeom>
          <a:solidFill>
            <a:srgbClr val="22325A"/>
          </a:solidFill>
          <a:ln w="12700">
            <a:solidFill>
              <a:srgbClr val="22325A"/>
            </a:solidFill>
            <a:prstDash val="solid"/>
          </a:ln>
        </p:spPr>
      </p:sp>
      <p:sp>
        <p:nvSpPr>
          <p:cNvPr id="13" name="Text 11"/>
          <p:cNvSpPr txBox="1"/>
          <p:nvPr/>
        </p:nvSpPr>
        <p:spPr>
          <a:xfrm>
            <a:off x="8463077" y="2606040"/>
            <a:ext cx="914400" cy="731520"/>
          </a:xfrm>
          <a:prstGeom prst="rect">
            <a:avLst/>
          </a:prstGeom>
          <a:noFill/>
          <a:ln/>
        </p:spPr>
        <p:txBody>
          <a:bodyPr wrap="square" lIns="0" tIns="0" rIns="0" bIns="0" rtlCol="0" anchor="t"/>
          <a:lstStyle/>
          <a:p>
            <a:pPr indent="0" marL="0">
              <a:buNone/>
            </a:pPr>
            <a:r>
              <a:rPr lang="en-US" sz="4000" b="1" dirty="0">
                <a:solidFill>
                  <a:srgbClr val="D9A21B"/>
                </a:solidFill>
                <a:latin typeface="Arial" pitchFamily="34" charset="0"/>
                <a:ea typeface="Arial" pitchFamily="34" charset="-122"/>
                <a:cs typeface="Arial" pitchFamily="34" charset="-120"/>
              </a:rPr>
              <a:t>3</a:t>
            </a:r>
            <a:endParaRPr lang="en-US" sz="4000" dirty="0"/>
          </a:p>
        </p:txBody>
      </p:sp>
      <p:sp>
        <p:nvSpPr>
          <p:cNvPr id="14" name="Text 12"/>
          <p:cNvSpPr txBox="1"/>
          <p:nvPr/>
        </p:nvSpPr>
        <p:spPr>
          <a:xfrm>
            <a:off x="8463077" y="3337560"/>
            <a:ext cx="2905658"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Klug abschrecken</a:t>
            </a:r>
            <a:endParaRPr lang="en-US" sz="2000" dirty="0"/>
          </a:p>
        </p:txBody>
      </p:sp>
      <p:sp>
        <p:nvSpPr>
          <p:cNvPr id="15" name="Text 13"/>
          <p:cNvSpPr txBox="1"/>
          <p:nvPr/>
        </p:nvSpPr>
        <p:spPr>
          <a:xfrm>
            <a:off x="8463077" y="3794760"/>
            <a:ext cx="2905658" cy="914400"/>
          </a:xfrm>
          <a:prstGeom prst="rect">
            <a:avLst/>
          </a:prstGeom>
          <a:noFill/>
          <a:ln/>
        </p:spPr>
        <p:txBody>
          <a:bodyPr wrap="square" lIns="0" tIns="0" rIns="0" bIns="0" rtlCol="0" anchor="t"/>
          <a:lstStyle/>
          <a:p>
            <a:pPr indent="0" marL="0">
              <a:buNone/>
            </a:pPr>
            <a:r>
              <a:rPr lang="en-US" sz="1600" dirty="0">
                <a:solidFill>
                  <a:srgbClr val="C9D1DE"/>
                </a:solidFill>
                <a:latin typeface="Calibri" pitchFamily="34" charset="0"/>
                <a:ea typeface="Calibri" pitchFamily="34" charset="-122"/>
                <a:cs typeface="Calibri" pitchFamily="34" charset="-120"/>
              </a:rPr>
              <a:t>Taiwans Selbstverteidigung stärken, ohne zu eskalieren</a:t>
            </a:r>
            <a:endParaRPr lang="en-US" sz="1600" dirty="0"/>
          </a:p>
        </p:txBody>
      </p:sp>
      <p:sp>
        <p:nvSpPr>
          <p:cNvPr id="16" name="Text 14"/>
          <p:cNvSpPr txBox="1"/>
          <p:nvPr/>
        </p:nvSpPr>
        <p:spPr>
          <a:xfrm>
            <a:off x="548640" y="5212080"/>
            <a:ext cx="11094415" cy="914400"/>
          </a:xfrm>
          <a:prstGeom prst="rect">
            <a:avLst/>
          </a:prstGeom>
          <a:noFill/>
          <a:ln/>
        </p:spPr>
        <p:txBody>
          <a:bodyPr wrap="square" lIns="0" tIns="0" rIns="0" bIns="0" rtlCol="0" anchor="ctr"/>
          <a:lstStyle/>
          <a:p>
            <a:pPr indent="0" marL="0">
              <a:buNone/>
            </a:pPr>
            <a:r>
              <a:rPr lang="en-US" sz="1900" b="1" dirty="0">
                <a:solidFill>
                  <a:srgbClr val="D9A21B"/>
                </a:solidFill>
                <a:latin typeface="Calibri" pitchFamily="34" charset="0"/>
                <a:ea typeface="Calibri" pitchFamily="34" charset="-122"/>
                <a:cs typeface="Calibri" pitchFamily="34" charset="-120"/>
              </a:rPr>
              <a:t>Kernaussage: </a:t>
            </a:r>
            <a:pPr indent="0" marL="0">
              <a:buNone/>
            </a:pPr>
            <a:r>
              <a:rPr lang="en-US" sz="1900" dirty="0">
                <a:solidFill>
                  <a:srgbClr val="FFFFFF"/>
                </a:solidFill>
                <a:latin typeface="Calibri" pitchFamily="34" charset="0"/>
                <a:ea typeface="Calibri" pitchFamily="34" charset="-122"/>
                <a:cs typeface="Calibri" pitchFamily="34" charset="-120"/>
              </a:rPr>
              <a:t>Es geht nicht nur um „China gegen Taiwan“ – sondern um Geschichte, Demokratie, Großmächte und die Weltwirtschaft.</a:t>
            </a:r>
            <a:endParaRPr lang="en-US" sz="19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C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rgbClr val="14213D"/>
                </a:solidFill>
                <a:latin typeface="Arial" pitchFamily="34" charset="0"/>
                <a:ea typeface="Arial" pitchFamily="34" charset="-122"/>
                <a:cs typeface="Arial" pitchFamily="34" charset="-120"/>
              </a:rPr>
              <a:t>Quellen und Bildnachweise</a:t>
            </a:r>
            <a:endParaRPr lang="en-US" sz="3200" dirty="0"/>
          </a:p>
        </p:txBody>
      </p:sp>
      <p:sp>
        <p:nvSpPr>
          <p:cNvPr id="3" name="Text 1"/>
          <p:cNvSpPr txBox="1"/>
          <p:nvPr/>
        </p:nvSpPr>
        <p:spPr>
          <a:xfrm>
            <a:off x="548640" y="1325880"/>
            <a:ext cx="5486400"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TEXTQUELLEN</a:t>
            </a:r>
            <a:endParaRPr lang="en-US" sz="1200" dirty="0"/>
          </a:p>
        </p:txBody>
      </p:sp>
      <p:sp>
        <p:nvSpPr>
          <p:cNvPr id="4" name="Text 2"/>
          <p:cNvSpPr txBox="1"/>
          <p:nvPr/>
        </p:nvSpPr>
        <p:spPr>
          <a:xfrm>
            <a:off x="548640" y="1691640"/>
            <a:ext cx="5669280" cy="4480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Auswärtiges Amt: Deutschland und China / Position zu Taiwan (2026)</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Europäischer Rat / EEAS: EU-One-China-Politik und Taiwanstraße (2023–2026)</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UN Treaty Collection: Resolution 2758 vom 25.10.1971</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Regierung der VR China: Anti-Secession Law, 14.03.2005</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Office of the President, Republic of China (Taiwan)</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Taiwan Ministry of the Interior: Bevölkerungsstatistik 2026</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Reuters: Lageberichte zu Militär und US-Einschätzungen, Oktober 2026</a:t>
            </a:r>
            <a:endParaRPr lang="en-US" sz="1400" dirty="0"/>
          </a:p>
          <a:p>
            <a:pPr marL="177800" indent="-1778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TSMC / SEC: Geschäftsbericht 2025</a:t>
            </a:r>
            <a:endParaRPr lang="en-US" sz="1400" dirty="0"/>
          </a:p>
        </p:txBody>
      </p:sp>
      <p:sp>
        <p:nvSpPr>
          <p:cNvPr id="5" name="Text 3"/>
          <p:cNvSpPr txBox="1"/>
          <p:nvPr/>
        </p:nvSpPr>
        <p:spPr>
          <a:xfrm>
            <a:off x="6492240" y="1325880"/>
            <a:ext cx="5120640" cy="274320"/>
          </a:xfrm>
          <a:prstGeom prst="rect">
            <a:avLst/>
          </a:prstGeom>
          <a:noFill/>
          <a:ln/>
        </p:spPr>
        <p:txBody>
          <a:bodyPr wrap="square" lIns="0" tIns="0" rIns="0" bIns="0" rtlCol="0" anchor="t"/>
          <a:lstStyle/>
          <a:p>
            <a:pPr indent="0" marL="0">
              <a:buNone/>
            </a:pPr>
            <a:r>
              <a:rPr lang="en-US" sz="1200" b="1" spc="200" kern="0" dirty="0">
                <a:solidFill>
                  <a:srgbClr val="C8102E"/>
                </a:solidFill>
                <a:latin typeface="Calibri" pitchFamily="34" charset="0"/>
                <a:ea typeface="Calibri" pitchFamily="34" charset="-122"/>
                <a:cs typeface="Calibri" pitchFamily="34" charset="-120"/>
              </a:rPr>
              <a:t>BILDER (WIKIMEDIA COMMONS)</a:t>
            </a:r>
            <a:endParaRPr lang="en-US" sz="1200" dirty="0"/>
          </a:p>
        </p:txBody>
      </p:sp>
      <p:sp>
        <p:nvSpPr>
          <p:cNvPr id="6" name="Text 4"/>
          <p:cNvSpPr txBox="1"/>
          <p:nvPr/>
        </p:nvSpPr>
        <p:spPr>
          <a:xfrm>
            <a:off x="6492240" y="1691640"/>
            <a:ext cx="5150815" cy="44805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Titelbild: aus der Ausgangsfassung (Quelle bitte ergänzen)</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Karte Taiwanstraße: CIA, gemeinfrei</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Karte Region: TUBS, CC BY-SA 3.0</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Mao 1949, Chiang Kai-shek, Silizium-Wafer: gemeinfrei</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Taipei 101: AngMoKio, CC BY-SA 3.0</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Skyline Taipeh: 毛貓大少爺, CC BY-SA 2.0</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Tian’anmen-Platz: Derzsi Elekes Andor, CC BY-SA 3.0</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Containerschiff: Biopics (Wikimedia Commons)</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UN-Generalversammlung: Patrick Gruban, CC BY-SA 2.0</a:t>
            </a:r>
            <a:endParaRPr lang="en-US" sz="1200" dirty="0"/>
          </a:p>
          <a:p>
            <a:pPr marL="177800" indent="-177800">
              <a:spcAft>
                <a:spcPts val="400"/>
              </a:spcAft>
              <a:buSzPct val="100000"/>
              <a:buChar char="•"/>
            </a:pPr>
            <a:r>
              <a:rPr lang="en-US" sz="1200" dirty="0">
                <a:solidFill>
                  <a:srgbClr val="5B6472"/>
                </a:solidFill>
                <a:latin typeface="Calibri" pitchFamily="34" charset="0"/>
                <a:ea typeface="Calibri" pitchFamily="34" charset="-122"/>
                <a:cs typeface="Calibri" pitchFamily="34" charset="-120"/>
              </a:rPr>
              <a:t>Flaggen: Wikimedia Commons, gemeinfrei · Icons: Font Awesome</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hina-Taiwan">
  <a:themeElements>
    <a:clrScheme name="China-Taiwan">
      <a:dk1>
        <a:srgbClr val="1F2937"/>
      </a:dk1>
      <a:lt1>
        <a:srgbClr val="FFFFFF"/>
      </a:lt1>
      <a:dk2>
        <a:srgbClr val="14213D"/>
      </a:dk2>
      <a:lt2>
        <a:srgbClr val="F1F3F6"/>
      </a:lt2>
      <a:accent1>
        <a:srgbClr val="C8102E"/>
      </a:accent1>
      <a:accent2>
        <a:srgbClr val="D9A21B"/>
      </a:accent2>
      <a:accent3>
        <a:srgbClr val="2F6B4F"/>
      </a:accent3>
      <a:accent4>
        <a:srgbClr val="3B5B92"/>
      </a:accent4>
      <a:accent5>
        <a:srgbClr val="8A94A6"/>
      </a:accent5>
      <a:accent6>
        <a:srgbClr val="B45309"/>
      </a:accent6>
      <a:hlink>
        <a:srgbClr val="1D4ED8"/>
      </a:hlink>
      <a:folHlink>
        <a:srgbClr val="6B21A8"/>
      </a:folHlink>
    </a:clrScheme>
    <a:fontScheme name="China-Taiwa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 China–Taiwan-Konflikt</dc:title>
  <dc:subject>PptxGenJS Presentation</dc:subject>
  <dc:creator>Justus, Luiz, David</dc:creator>
  <cp:lastModifiedBy>Justus, Luiz, David</cp:lastModifiedBy>
  <cp:revision>1</cp:revision>
  <dcterms:created xsi:type="dcterms:W3CDTF">2026-10-11T21:42:37Z</dcterms:created>
  <dcterms:modified xsi:type="dcterms:W3CDTF">2026-10-11T21:42:37Z</dcterms:modified>
</cp:coreProperties>
</file>